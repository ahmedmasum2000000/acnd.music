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what we own. Fifty-eight screens, ten cities, and the permissions held in our own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numbers. The one that decides it is the zero: on owned media there is no third party to mark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 area is proportional to screens in the city. Boundary drawn from Natural Earth 1:10m, public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 and government-liaison capability is the heaviest-weighted criterion in the RFP, at 25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 screens carry a published rate; the balance of the fifty-eight are surveyed and quoted within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categories that would otherwise be four separate vendors, each with its own markup.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competitiveness and transparency is 20 per cent of the score. This slide is the whole answer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terms, because none of them need negotiating. The full response and every annexure are already with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63"/>
        </a:solidFill>
      </p:bgPr>
    </p:bg>
    <p:spTree>
      <p:nvGrpSpPr>
        <p:cNvPr id="1" name=""/>
        <p:cNvGrpSpPr/>
        <p:nvPr/>
      </p:nvGrpSpPr>
      <p:grpSpPr>
        <a:xfrm>
          <a:off x="0" y="0"/>
          <a:ext cx="0" cy="0"/>
          <a:chOff x="0" y="0"/>
          <a:chExt cx="0" cy="0"/>
        </a:xfrm>
      </p:grpSpPr>
      <p:pic>
        <p:nvPicPr>
          <p:cNvPr id="2" name="Image 0" descr="An AD PRO LED billboard at Gulshan 1 Circle, Dhaka">    </p:cNvPr>
          <p:cNvPicPr>
            <a:picLocks noChangeAspect="1"/>
          </p:cNvPicPr>
          <p:nvPr/>
        </p:nvPicPr>
        <p:blipFill>
          <a:blip r:embed="rId1"/>
          <a:srcRect l="0" r="0" t="0" b="0"/>
          <a:stretch/>
        </p:blipFill>
        <p:spPr>
          <a:xfrm>
            <a:off x="6035040" y="0"/>
            <a:ext cx="6156655" cy="6858000"/>
          </a:xfrm>
          <a:prstGeom prst="rect">
            <a:avLst/>
          </a:prstGeom>
        </p:spPr>
      </p:pic>
      <p:pic>
        <p:nvPicPr>
          <p:cNvPr id="3" name="Image 1" descr="AD PRO Communications Ltd. logo">    </p:cNvPr>
          <p:cNvPicPr>
            <a:picLocks noChangeAspect="1"/>
          </p:cNvPicPr>
          <p:nvPr/>
        </p:nvPicPr>
        <p:blipFill>
          <a:blip r:embed="rId2"/>
          <a:stretch>
            <a:fillRect/>
          </a:stretch>
        </p:blipFill>
        <p:spPr>
          <a:xfrm>
            <a:off x="566928" y="731520"/>
            <a:ext cx="658368" cy="658368"/>
          </a:xfrm>
          <a:prstGeom prst="rect">
            <a:avLst/>
          </a:prstGeom>
        </p:spPr>
      </p:pic>
      <p:sp>
        <p:nvSpPr>
          <p:cNvPr id="4" name="Text 0"/>
          <p:cNvSpPr/>
          <p:nvPr/>
        </p:nvSpPr>
        <p:spPr>
          <a:xfrm>
            <a:off x="1435608" y="758952"/>
            <a:ext cx="2743200" cy="329184"/>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AD PRO</a:t>
            </a:r>
            <a:endParaRPr lang="en-US" sz="2000" dirty="0"/>
          </a:p>
        </p:txBody>
      </p:sp>
      <p:sp>
        <p:nvSpPr>
          <p:cNvPr id="5" name="Text 1"/>
          <p:cNvSpPr/>
          <p:nvPr/>
        </p:nvSpPr>
        <p:spPr>
          <a:xfrm>
            <a:off x="1435608" y="1088136"/>
            <a:ext cx="3657600" cy="237744"/>
          </a:xfrm>
          <a:prstGeom prst="rect">
            <a:avLst/>
          </a:prstGeom>
          <a:noFill/>
          <a:ln/>
        </p:spPr>
        <p:txBody>
          <a:bodyPr wrap="square" lIns="0" tIns="0" rIns="0" bIns="0" rtlCol="0" anchor="ctr"/>
          <a:lstStyle/>
          <a:p>
            <a:pPr indent="0" marL="0">
              <a:buNone/>
            </a:pPr>
            <a:r>
              <a:rPr lang="en-US" sz="1000" spc="180" kern="0" dirty="0">
                <a:solidFill>
                  <a:srgbClr val="6BA3E8"/>
                </a:solidFill>
                <a:latin typeface="Arial" pitchFamily="34" charset="0"/>
                <a:ea typeface="Arial" pitchFamily="34" charset="-122"/>
                <a:cs typeface="Arial" pitchFamily="34" charset="-120"/>
              </a:rPr>
              <a:t>COMMUNICATIONS LTD.</a:t>
            </a:r>
            <a:endParaRPr lang="en-US" sz="1000" dirty="0"/>
          </a:p>
        </p:txBody>
      </p:sp>
      <p:sp>
        <p:nvSpPr>
          <p:cNvPr id="6" name="Text 2"/>
          <p:cNvSpPr/>
          <p:nvPr/>
        </p:nvSpPr>
        <p:spPr>
          <a:xfrm>
            <a:off x="566928" y="2286000"/>
            <a:ext cx="5212080" cy="2286000"/>
          </a:xfrm>
          <a:prstGeom prst="rect">
            <a:avLst/>
          </a:prstGeom>
          <a:noFill/>
          <a:ln/>
        </p:spPr>
        <p:txBody>
          <a:bodyPr wrap="square" lIns="0" tIns="0" rIns="0" bIns="0" rtlCol="0" anchor="ctr"/>
          <a:lstStyle/>
          <a:p>
            <a:pPr indent="0" marL="0">
              <a:lnSpc>
                <a:spcPts val="4000"/>
              </a:lnSpc>
              <a:buNone/>
            </a:pPr>
            <a:r>
              <a:rPr lang="en-US" sz="3000" dirty="0">
                <a:solidFill>
                  <a:srgbClr val="FFFFFF"/>
                </a:solidFill>
                <a:latin typeface="Arial" pitchFamily="34" charset="0"/>
                <a:ea typeface="Arial" pitchFamily="34" charset="-122"/>
                <a:cs typeface="Arial" pitchFamily="34" charset="-120"/>
              </a:rPr>
              <a:t>Marketing activation,</a:t>
            </a:r>
            <a:endParaRPr lang="en-US" sz="3000" dirty="0"/>
          </a:p>
          <a:p>
            <a:pPr indent="0" marL="0">
              <a:lnSpc>
                <a:spcPts val="4000"/>
              </a:lnSpc>
              <a:buNone/>
            </a:pPr>
            <a:r>
              <a:rPr lang="en-US" sz="3000" dirty="0">
                <a:solidFill>
                  <a:srgbClr val="FFFFFF"/>
                </a:solidFill>
                <a:latin typeface="Arial" pitchFamily="34" charset="0"/>
                <a:ea typeface="Arial" pitchFamily="34" charset="-122"/>
                <a:cs typeface="Arial" pitchFamily="34" charset="-120"/>
              </a:rPr>
              <a:t>outdoor media and</a:t>
            </a:r>
            <a:endParaRPr lang="en-US" sz="3000" dirty="0"/>
          </a:p>
          <a:p>
            <a:pPr indent="0" marL="0">
              <a:lnSpc>
                <a:spcPts val="4000"/>
              </a:lnSpc>
              <a:buNone/>
            </a:pPr>
            <a:r>
              <a:rPr lang="en-US" sz="3000" dirty="0">
                <a:solidFill>
                  <a:srgbClr val="FFFFFF"/>
                </a:solidFill>
                <a:latin typeface="Arial" pitchFamily="34" charset="0"/>
                <a:ea typeface="Arial" pitchFamily="34" charset="-122"/>
                <a:cs typeface="Arial" pitchFamily="34" charset="-120"/>
              </a:rPr>
              <a:t>government liaison,</a:t>
            </a:r>
            <a:endParaRPr lang="en-US" sz="3000" dirty="0"/>
          </a:p>
          <a:p>
            <a:pPr indent="0" marL="0">
              <a:lnSpc>
                <a:spcPts val="4000"/>
              </a:lnSpc>
              <a:buNone/>
            </a:pPr>
            <a:r>
              <a:rPr lang="en-US" sz="3000" dirty="0">
                <a:solidFill>
                  <a:srgbClr val="FFFFFF"/>
                </a:solidFill>
                <a:latin typeface="Arial" pitchFamily="34" charset="0"/>
                <a:ea typeface="Arial" pitchFamily="34" charset="-122"/>
                <a:cs typeface="Arial" pitchFamily="34" charset="-120"/>
              </a:rPr>
              <a:t>for Uber Bangladesh.</a:t>
            </a:r>
            <a:endParaRPr lang="en-US" sz="3000" dirty="0"/>
          </a:p>
        </p:txBody>
      </p:sp>
      <p:sp>
        <p:nvSpPr>
          <p:cNvPr id="7" name="Text 3"/>
          <p:cNvSpPr/>
          <p:nvPr/>
        </p:nvSpPr>
        <p:spPr>
          <a:xfrm>
            <a:off x="566928" y="4754880"/>
            <a:ext cx="5212080" cy="274320"/>
          </a:xfrm>
          <a:prstGeom prst="rect">
            <a:avLst/>
          </a:prstGeom>
          <a:noFill/>
          <a:ln/>
        </p:spPr>
        <p:txBody>
          <a:bodyPr wrap="square" lIns="0" tIns="0" rIns="0" bIns="0" rtlCol="0" anchor="ctr"/>
          <a:lstStyle/>
          <a:p>
            <a:pPr indent="0" marL="0">
              <a:buNone/>
            </a:pPr>
            <a:r>
              <a:rPr lang="en-US" sz="1200" dirty="0">
                <a:solidFill>
                  <a:srgbClr val="6BA3E8"/>
                </a:solidFill>
                <a:latin typeface="Arial" pitchFamily="34" charset="0"/>
                <a:ea typeface="Arial" pitchFamily="34" charset="-122"/>
                <a:cs typeface="Arial" pitchFamily="34" charset="-120"/>
              </a:rPr>
              <a:t>Strategic plan and commercial proposal</a:t>
            </a:r>
            <a:endParaRPr lang="en-US" sz="1200" dirty="0"/>
          </a:p>
        </p:txBody>
      </p:sp>
      <p:sp>
        <p:nvSpPr>
          <p:cNvPr id="8" name="Text 4"/>
          <p:cNvSpPr/>
          <p:nvPr/>
        </p:nvSpPr>
        <p:spPr>
          <a:xfrm>
            <a:off x="566928" y="5943600"/>
            <a:ext cx="5212080" cy="274320"/>
          </a:xfrm>
          <a:prstGeom prst="rect">
            <a:avLst/>
          </a:prstGeom>
          <a:noFill/>
          <a:ln/>
        </p:spPr>
        <p:txBody>
          <a:bodyPr wrap="square" lIns="0" tIns="0" rIns="0" bIns="0" rtlCol="0" anchor="ctr"/>
          <a:lstStyle/>
          <a:p>
            <a:pPr indent="0" marL="0">
              <a:buNone/>
            </a:pPr>
            <a:r>
              <a:rPr lang="en-US" sz="950" spc="80" kern="0" dirty="0">
                <a:solidFill>
                  <a:srgbClr val="A9BEDA"/>
                </a:solidFill>
                <a:latin typeface="Arial" pitchFamily="34" charset="0"/>
                <a:ea typeface="Arial" pitchFamily="34" charset="-122"/>
                <a:cs typeface="Arial" pitchFamily="34" charset="-120"/>
              </a:rPr>
              <a:t>Submitted to Uber Bangladesh Ltd.  ·  One-year term  ·  25 August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566928"/>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THE ANSWER</a:t>
            </a:r>
            <a:endParaRPr lang="en-US" sz="1100" dirty="0"/>
          </a:p>
        </p:txBody>
      </p:sp>
      <p:sp>
        <p:nvSpPr>
          <p:cNvPr id="3" name="Text 1"/>
          <p:cNvSpPr/>
          <p:nvPr/>
        </p:nvSpPr>
        <p:spPr>
          <a:xfrm>
            <a:off x="566928" y="859536"/>
            <a:ext cx="11057839" cy="1005840"/>
          </a:xfrm>
          <a:prstGeom prst="rect">
            <a:avLst/>
          </a:prstGeom>
          <a:noFill/>
          <a:ln/>
        </p:spPr>
        <p:txBody>
          <a:bodyPr wrap="square" lIns="0" tIns="0" rIns="0" bIns="0" rtlCol="0" anchor="t"/>
          <a:lstStyle/>
          <a:p>
            <a:pPr indent="0" marL="0">
              <a:buNone/>
            </a:pPr>
            <a:r>
              <a:rPr lang="en-US" sz="2600" dirty="0">
                <a:solidFill>
                  <a:srgbClr val="1E3A63"/>
                </a:solidFill>
                <a:latin typeface="Arial" pitchFamily="34" charset="0"/>
                <a:ea typeface="Arial" pitchFamily="34" charset="-122"/>
                <a:cs typeface="Arial" pitchFamily="34" charset="-120"/>
              </a:rPr>
              <a:t>Most agencies would have to go and rent what Uber is asking for. We already own it.</a:t>
            </a:r>
            <a:endParaRPr lang="en-US" sz="2600" dirty="0"/>
          </a:p>
        </p:txBody>
      </p:sp>
      <p:sp>
        <p:nvSpPr>
          <p:cNvPr id="4" name="Shape 2"/>
          <p:cNvSpPr/>
          <p:nvPr/>
        </p:nvSpPr>
        <p:spPr>
          <a:xfrm>
            <a:off x="566928" y="1965960"/>
            <a:ext cx="1918960" cy="1920240"/>
          </a:xfrm>
          <a:prstGeom prst="rect">
            <a:avLst/>
          </a:prstGeom>
          <a:solidFill>
            <a:srgbClr val="1E3A63"/>
          </a:solidFill>
          <a:ln/>
        </p:spPr>
      </p:sp>
      <p:sp>
        <p:nvSpPr>
          <p:cNvPr id="5" name="Text 3"/>
          <p:cNvSpPr/>
          <p:nvPr/>
        </p:nvSpPr>
        <p:spPr>
          <a:xfrm>
            <a:off x="786384" y="2212848"/>
            <a:ext cx="1480048" cy="713232"/>
          </a:xfrm>
          <a:prstGeom prst="rect">
            <a:avLst/>
          </a:prstGeom>
          <a:noFill/>
          <a:ln/>
        </p:spPr>
        <p:txBody>
          <a:bodyPr wrap="square" lIns="0" tIns="0" rIns="0" bIns="0" rtlCol="0" anchor="t"/>
          <a:lstStyle/>
          <a:p>
            <a:pPr indent="0" marL="0">
              <a:buNone/>
            </a:pPr>
            <a:r>
              <a:rPr lang="en-US" sz="3800" dirty="0">
                <a:solidFill>
                  <a:srgbClr val="FFFFFF"/>
                </a:solidFill>
                <a:latin typeface="Arial" pitchFamily="34" charset="0"/>
                <a:ea typeface="Arial" pitchFamily="34" charset="-122"/>
                <a:cs typeface="Arial" pitchFamily="34" charset="-120"/>
              </a:rPr>
              <a:t>58</a:t>
            </a:r>
            <a:endParaRPr lang="en-US" sz="3800" dirty="0"/>
          </a:p>
        </p:txBody>
      </p:sp>
      <p:sp>
        <p:nvSpPr>
          <p:cNvPr id="6" name="Text 4"/>
          <p:cNvSpPr/>
          <p:nvPr/>
        </p:nvSpPr>
        <p:spPr>
          <a:xfrm>
            <a:off x="786384" y="3054096"/>
            <a:ext cx="1480048" cy="658368"/>
          </a:xfrm>
          <a:prstGeom prst="rect">
            <a:avLst/>
          </a:prstGeom>
          <a:noFill/>
          <a:ln/>
        </p:spPr>
        <p:txBody>
          <a:bodyPr wrap="square" lIns="0" tIns="0" rIns="0" bIns="0" rtlCol="0" anchor="ctr"/>
          <a:lstStyle/>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LED screens owned</a:t>
            </a:r>
            <a:endParaRPr lang="en-US" sz="1000" dirty="0"/>
          </a:p>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and operated</a:t>
            </a:r>
            <a:endParaRPr lang="en-US" sz="1000" dirty="0"/>
          </a:p>
        </p:txBody>
      </p:sp>
      <p:sp>
        <p:nvSpPr>
          <p:cNvPr id="7" name="Shape 5"/>
          <p:cNvSpPr/>
          <p:nvPr/>
        </p:nvSpPr>
        <p:spPr>
          <a:xfrm>
            <a:off x="2851648" y="1965960"/>
            <a:ext cx="1918960" cy="1920240"/>
          </a:xfrm>
          <a:prstGeom prst="rect">
            <a:avLst/>
          </a:prstGeom>
          <a:solidFill>
            <a:srgbClr val="1E3A63"/>
          </a:solidFill>
          <a:ln/>
        </p:spPr>
      </p:sp>
      <p:sp>
        <p:nvSpPr>
          <p:cNvPr id="8" name="Text 6"/>
          <p:cNvSpPr/>
          <p:nvPr/>
        </p:nvSpPr>
        <p:spPr>
          <a:xfrm>
            <a:off x="3071104" y="2212848"/>
            <a:ext cx="1480048" cy="713232"/>
          </a:xfrm>
          <a:prstGeom prst="rect">
            <a:avLst/>
          </a:prstGeom>
          <a:noFill/>
          <a:ln/>
        </p:spPr>
        <p:txBody>
          <a:bodyPr wrap="square" lIns="0" tIns="0" rIns="0" bIns="0" rtlCol="0" anchor="t"/>
          <a:lstStyle/>
          <a:p>
            <a:pPr indent="0" marL="0">
              <a:buNone/>
            </a:pPr>
            <a:r>
              <a:rPr lang="en-US" sz="3800" dirty="0">
                <a:solidFill>
                  <a:srgbClr val="FFFFFF"/>
                </a:solidFill>
                <a:latin typeface="Arial" pitchFamily="34" charset="0"/>
                <a:ea typeface="Arial" pitchFamily="34" charset="-122"/>
                <a:cs typeface="Arial" pitchFamily="34" charset="-120"/>
              </a:rPr>
              <a:t>10</a:t>
            </a:r>
            <a:endParaRPr lang="en-US" sz="3800" dirty="0"/>
          </a:p>
        </p:txBody>
      </p:sp>
      <p:sp>
        <p:nvSpPr>
          <p:cNvPr id="9" name="Text 7"/>
          <p:cNvSpPr/>
          <p:nvPr/>
        </p:nvSpPr>
        <p:spPr>
          <a:xfrm>
            <a:off x="3071104" y="3054096"/>
            <a:ext cx="1480048" cy="658368"/>
          </a:xfrm>
          <a:prstGeom prst="rect">
            <a:avLst/>
          </a:prstGeom>
          <a:noFill/>
          <a:ln/>
        </p:spPr>
        <p:txBody>
          <a:bodyPr wrap="square" lIns="0" tIns="0" rIns="0" bIns="0" rtlCol="0" anchor="ctr"/>
          <a:lstStyle/>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Cities with</a:t>
            </a:r>
            <a:endParaRPr lang="en-US" sz="1000" dirty="0"/>
          </a:p>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AD PRO screens</a:t>
            </a:r>
            <a:endParaRPr lang="en-US" sz="1000" dirty="0"/>
          </a:p>
        </p:txBody>
      </p:sp>
      <p:sp>
        <p:nvSpPr>
          <p:cNvPr id="10" name="Shape 8"/>
          <p:cNvSpPr/>
          <p:nvPr/>
        </p:nvSpPr>
        <p:spPr>
          <a:xfrm>
            <a:off x="5136368" y="1965960"/>
            <a:ext cx="1918960" cy="1920240"/>
          </a:xfrm>
          <a:prstGeom prst="rect">
            <a:avLst/>
          </a:prstGeom>
          <a:solidFill>
            <a:srgbClr val="1E3A63"/>
          </a:solidFill>
          <a:ln/>
        </p:spPr>
      </p:sp>
      <p:sp>
        <p:nvSpPr>
          <p:cNvPr id="11" name="Text 9"/>
          <p:cNvSpPr/>
          <p:nvPr/>
        </p:nvSpPr>
        <p:spPr>
          <a:xfrm>
            <a:off x="5355824" y="2212848"/>
            <a:ext cx="1480048" cy="713232"/>
          </a:xfrm>
          <a:prstGeom prst="rect">
            <a:avLst/>
          </a:prstGeom>
          <a:noFill/>
          <a:ln/>
        </p:spPr>
        <p:txBody>
          <a:bodyPr wrap="square" lIns="0" tIns="0" rIns="0" bIns="0" rtlCol="0" anchor="t"/>
          <a:lstStyle/>
          <a:p>
            <a:pPr indent="0" marL="0">
              <a:buNone/>
            </a:pPr>
            <a:r>
              <a:rPr lang="en-US" sz="3800" dirty="0">
                <a:solidFill>
                  <a:srgbClr val="FFFFFF"/>
                </a:solidFill>
                <a:latin typeface="Arial" pitchFamily="34" charset="0"/>
                <a:ea typeface="Arial" pitchFamily="34" charset="-122"/>
                <a:cs typeface="Arial" pitchFamily="34" charset="-120"/>
              </a:rPr>
              <a:t>0%</a:t>
            </a:r>
            <a:endParaRPr lang="en-US" sz="3800" dirty="0"/>
          </a:p>
        </p:txBody>
      </p:sp>
      <p:sp>
        <p:nvSpPr>
          <p:cNvPr id="12" name="Text 10"/>
          <p:cNvSpPr/>
          <p:nvPr/>
        </p:nvSpPr>
        <p:spPr>
          <a:xfrm>
            <a:off x="5355824" y="3054096"/>
            <a:ext cx="1480048" cy="658368"/>
          </a:xfrm>
          <a:prstGeom prst="rect">
            <a:avLst/>
          </a:prstGeom>
          <a:noFill/>
          <a:ln/>
        </p:spPr>
        <p:txBody>
          <a:bodyPr wrap="square" lIns="0" tIns="0" rIns="0" bIns="0" rtlCol="0" anchor="ctr"/>
          <a:lstStyle/>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Markup on every</a:t>
            </a:r>
            <a:endParaRPr lang="en-US" sz="1000" dirty="0"/>
          </a:p>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pass-through taka</a:t>
            </a:r>
            <a:endParaRPr lang="en-US" sz="1000" dirty="0"/>
          </a:p>
        </p:txBody>
      </p:sp>
      <p:sp>
        <p:nvSpPr>
          <p:cNvPr id="13" name="Shape 11"/>
          <p:cNvSpPr/>
          <p:nvPr/>
        </p:nvSpPr>
        <p:spPr>
          <a:xfrm>
            <a:off x="7421088" y="1965960"/>
            <a:ext cx="1918960" cy="1920240"/>
          </a:xfrm>
          <a:prstGeom prst="rect">
            <a:avLst/>
          </a:prstGeom>
          <a:solidFill>
            <a:srgbClr val="1E3A63"/>
          </a:solidFill>
          <a:ln/>
        </p:spPr>
      </p:sp>
      <p:sp>
        <p:nvSpPr>
          <p:cNvPr id="14" name="Text 12"/>
          <p:cNvSpPr/>
          <p:nvPr/>
        </p:nvSpPr>
        <p:spPr>
          <a:xfrm>
            <a:off x="7640544" y="2212848"/>
            <a:ext cx="1480048" cy="713232"/>
          </a:xfrm>
          <a:prstGeom prst="rect">
            <a:avLst/>
          </a:prstGeom>
          <a:noFill/>
          <a:ln/>
        </p:spPr>
        <p:txBody>
          <a:bodyPr wrap="square" lIns="0" tIns="0" rIns="0" bIns="0" rtlCol="0" anchor="t"/>
          <a:lstStyle/>
          <a:p>
            <a:pPr indent="0" marL="0">
              <a:buNone/>
            </a:pPr>
            <a:r>
              <a:rPr lang="en-US" sz="3200" dirty="0">
                <a:solidFill>
                  <a:srgbClr val="FFFFFF"/>
                </a:solidFill>
                <a:latin typeface="Arial" pitchFamily="34" charset="0"/>
                <a:ea typeface="Arial" pitchFamily="34" charset="-122"/>
                <a:cs typeface="Arial" pitchFamily="34" charset="-120"/>
              </a:rPr>
              <a:t>24hr</a:t>
            </a:r>
            <a:endParaRPr lang="en-US" sz="3200" dirty="0"/>
          </a:p>
        </p:txBody>
      </p:sp>
      <p:sp>
        <p:nvSpPr>
          <p:cNvPr id="15" name="Text 13"/>
          <p:cNvSpPr/>
          <p:nvPr/>
        </p:nvSpPr>
        <p:spPr>
          <a:xfrm>
            <a:off x="7640544" y="3054096"/>
            <a:ext cx="1480048" cy="658368"/>
          </a:xfrm>
          <a:prstGeom prst="rect">
            <a:avLst/>
          </a:prstGeom>
          <a:noFill/>
          <a:ln/>
        </p:spPr>
        <p:txBody>
          <a:bodyPr wrap="square" lIns="0" tIns="0" rIns="0" bIns="0" rtlCol="0" anchor="ctr"/>
          <a:lstStyle/>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Proof of display</a:t>
            </a:r>
            <a:endParaRPr lang="en-US" sz="1000" dirty="0"/>
          </a:p>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after install</a:t>
            </a:r>
            <a:endParaRPr lang="en-US" sz="1000" dirty="0"/>
          </a:p>
        </p:txBody>
      </p:sp>
      <p:sp>
        <p:nvSpPr>
          <p:cNvPr id="16" name="Shape 14"/>
          <p:cNvSpPr/>
          <p:nvPr/>
        </p:nvSpPr>
        <p:spPr>
          <a:xfrm>
            <a:off x="9705807" y="1965960"/>
            <a:ext cx="1918960" cy="1920240"/>
          </a:xfrm>
          <a:prstGeom prst="rect">
            <a:avLst/>
          </a:prstGeom>
          <a:solidFill>
            <a:srgbClr val="1E3A63"/>
          </a:solidFill>
          <a:ln/>
        </p:spPr>
      </p:sp>
      <p:sp>
        <p:nvSpPr>
          <p:cNvPr id="17" name="Text 15"/>
          <p:cNvSpPr/>
          <p:nvPr/>
        </p:nvSpPr>
        <p:spPr>
          <a:xfrm>
            <a:off x="9925263" y="2212848"/>
            <a:ext cx="1480048" cy="713232"/>
          </a:xfrm>
          <a:prstGeom prst="rect">
            <a:avLst/>
          </a:prstGeom>
          <a:noFill/>
          <a:ln/>
        </p:spPr>
        <p:txBody>
          <a:bodyPr wrap="square" lIns="0" tIns="0" rIns="0" bIns="0" rtlCol="0" anchor="t"/>
          <a:lstStyle/>
          <a:p>
            <a:pPr indent="0" marL="0">
              <a:buNone/>
            </a:pPr>
            <a:r>
              <a:rPr lang="en-US" sz="2600" dirty="0">
                <a:solidFill>
                  <a:srgbClr val="FFFFFF"/>
                </a:solidFill>
                <a:latin typeface="Arial" pitchFamily="34" charset="0"/>
                <a:ea typeface="Arial" pitchFamily="34" charset="-122"/>
                <a:cs typeface="Arial" pitchFamily="34" charset="-120"/>
              </a:rPr>
              <a:t>NET60</a:t>
            </a:r>
            <a:endParaRPr lang="en-US" sz="2600" dirty="0"/>
          </a:p>
        </p:txBody>
      </p:sp>
      <p:sp>
        <p:nvSpPr>
          <p:cNvPr id="18" name="Text 16"/>
          <p:cNvSpPr/>
          <p:nvPr/>
        </p:nvSpPr>
        <p:spPr>
          <a:xfrm>
            <a:off x="9925263" y="3054096"/>
            <a:ext cx="1480048" cy="658368"/>
          </a:xfrm>
          <a:prstGeom prst="rect">
            <a:avLst/>
          </a:prstGeom>
          <a:noFill/>
          <a:ln/>
        </p:spPr>
        <p:txBody>
          <a:bodyPr wrap="square" lIns="0" tIns="0" rIns="0" bIns="0" rtlCol="0" anchor="ctr"/>
          <a:lstStyle/>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Payment terms</a:t>
            </a:r>
            <a:endParaRPr lang="en-US" sz="1000" dirty="0"/>
          </a:p>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accepted</a:t>
            </a:r>
            <a:endParaRPr lang="en-US" sz="1000" dirty="0"/>
          </a:p>
        </p:txBody>
      </p:sp>
      <p:sp>
        <p:nvSpPr>
          <p:cNvPr id="19" name="Text 17"/>
          <p:cNvSpPr/>
          <p:nvPr/>
        </p:nvSpPr>
        <p:spPr>
          <a:xfrm>
            <a:off x="566928" y="4343400"/>
            <a:ext cx="3381146" cy="603504"/>
          </a:xfrm>
          <a:prstGeom prst="rect">
            <a:avLst/>
          </a:prstGeom>
          <a:noFill/>
          <a:ln/>
        </p:spPr>
        <p:txBody>
          <a:bodyPr wrap="square" lIns="0" tIns="0" rIns="0" bIns="0" rtlCol="0" anchor="t"/>
          <a:lstStyle/>
          <a:p>
            <a:pPr indent="0" marL="0">
              <a:buNone/>
            </a:pPr>
            <a:r>
              <a:rPr lang="en-US" sz="1400" b="1" dirty="0">
                <a:solidFill>
                  <a:srgbClr val="1E3A63"/>
                </a:solidFill>
                <a:latin typeface="Arial" pitchFamily="34" charset="0"/>
                <a:ea typeface="Arial" pitchFamily="34" charset="-122"/>
                <a:cs typeface="Arial" pitchFamily="34" charset="-120"/>
              </a:rPr>
              <a:t>Zero markup, and on our own screens, zero pass-through</a:t>
            </a:r>
            <a:endParaRPr lang="en-US" sz="1400" dirty="0"/>
          </a:p>
        </p:txBody>
      </p:sp>
      <p:sp>
        <p:nvSpPr>
          <p:cNvPr id="20" name="Text 18"/>
          <p:cNvSpPr/>
          <p:nvPr/>
        </p:nvSpPr>
        <p:spPr>
          <a:xfrm>
            <a:off x="566928" y="5010912"/>
            <a:ext cx="3381146" cy="1097280"/>
          </a:xfrm>
          <a:prstGeom prst="rect">
            <a:avLst/>
          </a:prstGeom>
          <a:noFill/>
          <a:ln/>
        </p:spPr>
        <p:txBody>
          <a:bodyPr wrap="square" lIns="0" tIns="0" rIns="0" bIns="0" rtlCol="0" anchor="t"/>
          <a:lstStyle/>
          <a:p>
            <a:pPr indent="0" marL="0">
              <a:lnSpc>
                <a:spcPts val="1700"/>
              </a:lnSpc>
              <a:buNone/>
            </a:pPr>
            <a:r>
              <a:rPr lang="en-US" sz="1100" dirty="0">
                <a:solidFill>
                  <a:srgbClr val="4A5A72"/>
                </a:solidFill>
                <a:latin typeface="Arial" pitchFamily="34" charset="0"/>
                <a:ea typeface="Arial" pitchFamily="34" charset="-122"/>
                <a:cs typeface="Arial" pitchFamily="34" charset="-120"/>
              </a:rPr>
              <a:t>Third-party media, government fees and production are billed at documented actuals. On the screens we own there is no third party at all.</a:t>
            </a:r>
            <a:endParaRPr lang="en-US" sz="1100" dirty="0"/>
          </a:p>
        </p:txBody>
      </p:sp>
      <p:sp>
        <p:nvSpPr>
          <p:cNvPr id="21" name="Text 19"/>
          <p:cNvSpPr/>
          <p:nvPr/>
        </p:nvSpPr>
        <p:spPr>
          <a:xfrm>
            <a:off x="4405274" y="4343400"/>
            <a:ext cx="3381146" cy="603504"/>
          </a:xfrm>
          <a:prstGeom prst="rect">
            <a:avLst/>
          </a:prstGeom>
          <a:noFill/>
          <a:ln/>
        </p:spPr>
        <p:txBody>
          <a:bodyPr wrap="square" lIns="0" tIns="0" rIns="0" bIns="0" rtlCol="0" anchor="t"/>
          <a:lstStyle/>
          <a:p>
            <a:pPr indent="0" marL="0">
              <a:buNone/>
            </a:pPr>
            <a:r>
              <a:rPr lang="en-US" sz="1400" b="1" dirty="0">
                <a:solidFill>
                  <a:srgbClr val="1E3A63"/>
                </a:solidFill>
                <a:latin typeface="Arial" pitchFamily="34" charset="0"/>
                <a:ea typeface="Arial" pitchFamily="34" charset="-122"/>
                <a:cs typeface="Arial" pitchFamily="34" charset="-120"/>
              </a:rPr>
              <a:t>No retainer, no account-management fee</a:t>
            </a:r>
            <a:endParaRPr lang="en-US" sz="1400" dirty="0"/>
          </a:p>
        </p:txBody>
      </p:sp>
      <p:sp>
        <p:nvSpPr>
          <p:cNvPr id="22" name="Text 20"/>
          <p:cNvSpPr/>
          <p:nvPr/>
        </p:nvSpPr>
        <p:spPr>
          <a:xfrm>
            <a:off x="4405274" y="5010912"/>
            <a:ext cx="3381146" cy="1097280"/>
          </a:xfrm>
          <a:prstGeom prst="rect">
            <a:avLst/>
          </a:prstGeom>
          <a:noFill/>
          <a:ln/>
        </p:spPr>
        <p:txBody>
          <a:bodyPr wrap="square" lIns="0" tIns="0" rIns="0" bIns="0" rtlCol="0" anchor="t"/>
          <a:lstStyle/>
          <a:p>
            <a:pPr indent="0" marL="0">
              <a:lnSpc>
                <a:spcPts val="1700"/>
              </a:lnSpc>
              <a:buNone/>
            </a:pPr>
            <a:r>
              <a:rPr lang="en-US" sz="1100" dirty="0">
                <a:solidFill>
                  <a:srgbClr val="4A5A72"/>
                </a:solidFill>
                <a:latin typeface="Arial" pitchFamily="34" charset="0"/>
                <a:ea typeface="Arial" pitchFamily="34" charset="-122"/>
                <a:cs typeface="Arial" pitchFamily="34" charset="-120"/>
              </a:rPr>
              <a:t>The dedicated team, the permissions desk and all reporting are carried in our margin on work delivered.</a:t>
            </a:r>
            <a:endParaRPr lang="en-US" sz="1100" dirty="0"/>
          </a:p>
        </p:txBody>
      </p:sp>
      <p:sp>
        <p:nvSpPr>
          <p:cNvPr id="23" name="Text 21"/>
          <p:cNvSpPr/>
          <p:nvPr/>
        </p:nvSpPr>
        <p:spPr>
          <a:xfrm>
            <a:off x="8243621" y="4343400"/>
            <a:ext cx="3381146" cy="603504"/>
          </a:xfrm>
          <a:prstGeom prst="rect">
            <a:avLst/>
          </a:prstGeom>
          <a:noFill/>
          <a:ln/>
        </p:spPr>
        <p:txBody>
          <a:bodyPr wrap="square" lIns="0" tIns="0" rIns="0" bIns="0" rtlCol="0" anchor="t"/>
          <a:lstStyle/>
          <a:p>
            <a:pPr indent="0" marL="0">
              <a:buNone/>
            </a:pPr>
            <a:r>
              <a:rPr lang="en-US" sz="1400" b="1" dirty="0">
                <a:solidFill>
                  <a:srgbClr val="1E3A63"/>
                </a:solidFill>
                <a:latin typeface="Arial" pitchFamily="34" charset="0"/>
                <a:ea typeface="Arial" pitchFamily="34" charset="-122"/>
                <a:cs typeface="Arial" pitchFamily="34" charset="-120"/>
              </a:rPr>
              <a:t>Nothing goes up without two approvals</a:t>
            </a:r>
            <a:endParaRPr lang="en-US" sz="1400" dirty="0"/>
          </a:p>
        </p:txBody>
      </p:sp>
      <p:sp>
        <p:nvSpPr>
          <p:cNvPr id="24" name="Text 22"/>
          <p:cNvSpPr/>
          <p:nvPr/>
        </p:nvSpPr>
        <p:spPr>
          <a:xfrm>
            <a:off x="8243621" y="5010912"/>
            <a:ext cx="3381146" cy="1097280"/>
          </a:xfrm>
          <a:prstGeom prst="rect">
            <a:avLst/>
          </a:prstGeom>
          <a:noFill/>
          <a:ln/>
        </p:spPr>
        <p:txBody>
          <a:bodyPr wrap="square" lIns="0" tIns="0" rIns="0" bIns="0" rtlCol="0" anchor="t"/>
          <a:lstStyle/>
          <a:p>
            <a:pPr indent="0" marL="0">
              <a:lnSpc>
                <a:spcPts val="1700"/>
              </a:lnSpc>
              <a:buNone/>
            </a:pPr>
            <a:r>
              <a:rPr lang="en-US" sz="1100" dirty="0">
                <a:solidFill>
                  <a:srgbClr val="4A5A72"/>
                </a:solidFill>
                <a:latin typeface="Arial" pitchFamily="34" charset="0"/>
                <a:ea typeface="Arial" pitchFamily="34" charset="-122"/>
                <a:cs typeface="Arial" pitchFamily="34" charset="-120"/>
              </a:rPr>
              <a:t>Uber's written approval and the authority's permission. Neither alone is enough to put anything on a wall.</a:t>
            </a:r>
            <a:endParaRPr lang="en-US" sz="1100" dirty="0"/>
          </a:p>
        </p:txBody>
      </p:sp>
      <p:sp>
        <p:nvSpPr>
          <p:cNvPr id="25" name="Text 23"/>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26" name="Text 24"/>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2 / 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566928"/>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COVERAGE</a:t>
            </a:r>
            <a:endParaRPr lang="en-US" sz="1100" dirty="0"/>
          </a:p>
        </p:txBody>
      </p:sp>
      <p:sp>
        <p:nvSpPr>
          <p:cNvPr id="3" name="Text 1"/>
          <p:cNvSpPr/>
          <p:nvPr/>
        </p:nvSpPr>
        <p:spPr>
          <a:xfrm>
            <a:off x="566928" y="859536"/>
            <a:ext cx="11057839" cy="713232"/>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Ten cities, and a screen in every one of them.</a:t>
            </a:r>
            <a:endParaRPr lang="en-US" sz="3000" dirty="0"/>
          </a:p>
        </p:txBody>
      </p:sp>
      <p:pic>
        <p:nvPicPr>
          <p:cNvPr id="4" name="Image 0" descr="Map of Bangladesh with AD PRO screen counts marked in ten cities">    </p:cNvPr>
          <p:cNvPicPr>
            <a:picLocks noChangeAspect="1"/>
          </p:cNvPicPr>
          <p:nvPr/>
        </p:nvPicPr>
        <p:blipFill>
          <a:blip r:embed="rId1"/>
          <a:stretch>
            <a:fillRect/>
          </a:stretch>
        </p:blipFill>
        <p:spPr>
          <a:xfrm>
            <a:off x="566928" y="1600200"/>
            <a:ext cx="4206240" cy="4663440"/>
          </a:xfrm>
          <a:prstGeom prst="rect">
            <a:avLst/>
          </a:prstGeom>
        </p:spPr>
      </p:pic>
      <p:sp>
        <p:nvSpPr>
          <p:cNvPr id="5" name="Text 2"/>
          <p:cNvSpPr/>
          <p:nvPr/>
        </p:nvSpPr>
        <p:spPr>
          <a:xfrm>
            <a:off x="5394960" y="1783080"/>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Dhaka</a:t>
            </a:r>
            <a:endParaRPr lang="en-US" sz="1500" dirty="0"/>
          </a:p>
        </p:txBody>
      </p:sp>
      <p:sp>
        <p:nvSpPr>
          <p:cNvPr id="6" name="Text 3"/>
          <p:cNvSpPr/>
          <p:nvPr/>
        </p:nvSpPr>
        <p:spPr>
          <a:xfrm>
            <a:off x="5394960" y="2075688"/>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34 screens</a:t>
            </a:r>
            <a:endParaRPr lang="en-US" sz="1100" dirty="0"/>
          </a:p>
        </p:txBody>
      </p:sp>
      <p:sp>
        <p:nvSpPr>
          <p:cNvPr id="7" name="Text 4"/>
          <p:cNvSpPr/>
          <p:nvPr/>
        </p:nvSpPr>
        <p:spPr>
          <a:xfrm>
            <a:off x="5394960" y="2532888"/>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Sylhet</a:t>
            </a:r>
            <a:endParaRPr lang="en-US" sz="1500" dirty="0"/>
          </a:p>
        </p:txBody>
      </p:sp>
      <p:sp>
        <p:nvSpPr>
          <p:cNvPr id="8" name="Text 5"/>
          <p:cNvSpPr/>
          <p:nvPr/>
        </p:nvSpPr>
        <p:spPr>
          <a:xfrm>
            <a:off x="5394960" y="2825496"/>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8 screens</a:t>
            </a:r>
            <a:endParaRPr lang="en-US" sz="1100" dirty="0"/>
          </a:p>
        </p:txBody>
      </p:sp>
      <p:sp>
        <p:nvSpPr>
          <p:cNvPr id="9" name="Text 6"/>
          <p:cNvSpPr/>
          <p:nvPr/>
        </p:nvSpPr>
        <p:spPr>
          <a:xfrm>
            <a:off x="5394960" y="3282696"/>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Cox's Bazar</a:t>
            </a:r>
            <a:endParaRPr lang="en-US" sz="1500" dirty="0"/>
          </a:p>
        </p:txBody>
      </p:sp>
      <p:sp>
        <p:nvSpPr>
          <p:cNvPr id="10" name="Text 7"/>
          <p:cNvSpPr/>
          <p:nvPr/>
        </p:nvSpPr>
        <p:spPr>
          <a:xfrm>
            <a:off x="5394960" y="3575304"/>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3 screens</a:t>
            </a:r>
            <a:endParaRPr lang="en-US" sz="1100" dirty="0"/>
          </a:p>
        </p:txBody>
      </p:sp>
      <p:sp>
        <p:nvSpPr>
          <p:cNvPr id="11" name="Text 8"/>
          <p:cNvSpPr/>
          <p:nvPr/>
        </p:nvSpPr>
        <p:spPr>
          <a:xfrm>
            <a:off x="5394960" y="4032504"/>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Chattogram</a:t>
            </a:r>
            <a:endParaRPr lang="en-US" sz="1500" dirty="0"/>
          </a:p>
        </p:txBody>
      </p:sp>
      <p:sp>
        <p:nvSpPr>
          <p:cNvPr id="12" name="Text 9"/>
          <p:cNvSpPr/>
          <p:nvPr/>
        </p:nvSpPr>
        <p:spPr>
          <a:xfrm>
            <a:off x="5394960" y="4325112"/>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2 screens</a:t>
            </a:r>
            <a:endParaRPr lang="en-US" sz="1100" dirty="0"/>
          </a:p>
        </p:txBody>
      </p:sp>
      <p:sp>
        <p:nvSpPr>
          <p:cNvPr id="13" name="Text 10"/>
          <p:cNvSpPr/>
          <p:nvPr/>
        </p:nvSpPr>
        <p:spPr>
          <a:xfrm>
            <a:off x="5394960" y="4782312"/>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Rajshahi</a:t>
            </a:r>
            <a:endParaRPr lang="en-US" sz="1500" dirty="0"/>
          </a:p>
        </p:txBody>
      </p:sp>
      <p:sp>
        <p:nvSpPr>
          <p:cNvPr id="14" name="Text 11"/>
          <p:cNvSpPr/>
          <p:nvPr/>
        </p:nvSpPr>
        <p:spPr>
          <a:xfrm>
            <a:off x="5394960" y="5074920"/>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2 screens</a:t>
            </a:r>
            <a:endParaRPr lang="en-US" sz="1100" dirty="0"/>
          </a:p>
        </p:txBody>
      </p:sp>
      <p:sp>
        <p:nvSpPr>
          <p:cNvPr id="15" name="Text 12"/>
          <p:cNvSpPr/>
          <p:nvPr/>
        </p:nvSpPr>
        <p:spPr>
          <a:xfrm>
            <a:off x="8503920" y="1783080"/>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Cumilla</a:t>
            </a:r>
            <a:endParaRPr lang="en-US" sz="1500" dirty="0"/>
          </a:p>
        </p:txBody>
      </p:sp>
      <p:sp>
        <p:nvSpPr>
          <p:cNvPr id="16" name="Text 13"/>
          <p:cNvSpPr/>
          <p:nvPr/>
        </p:nvSpPr>
        <p:spPr>
          <a:xfrm>
            <a:off x="8503920" y="2075688"/>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1 screen</a:t>
            </a:r>
            <a:endParaRPr lang="en-US" sz="1100" dirty="0"/>
          </a:p>
        </p:txBody>
      </p:sp>
      <p:sp>
        <p:nvSpPr>
          <p:cNvPr id="17" name="Text 14"/>
          <p:cNvSpPr/>
          <p:nvPr/>
        </p:nvSpPr>
        <p:spPr>
          <a:xfrm>
            <a:off x="8503920" y="2532888"/>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Rangpur</a:t>
            </a:r>
            <a:endParaRPr lang="en-US" sz="1500" dirty="0"/>
          </a:p>
        </p:txBody>
      </p:sp>
      <p:sp>
        <p:nvSpPr>
          <p:cNvPr id="18" name="Text 15"/>
          <p:cNvSpPr/>
          <p:nvPr/>
        </p:nvSpPr>
        <p:spPr>
          <a:xfrm>
            <a:off x="8503920" y="2825496"/>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1 screen</a:t>
            </a:r>
            <a:endParaRPr lang="en-US" sz="1100" dirty="0"/>
          </a:p>
        </p:txBody>
      </p:sp>
      <p:sp>
        <p:nvSpPr>
          <p:cNvPr id="19" name="Text 16"/>
          <p:cNvSpPr/>
          <p:nvPr/>
        </p:nvSpPr>
        <p:spPr>
          <a:xfrm>
            <a:off x="8503920" y="3282696"/>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Bogura</a:t>
            </a:r>
            <a:endParaRPr lang="en-US" sz="1500" dirty="0"/>
          </a:p>
        </p:txBody>
      </p:sp>
      <p:sp>
        <p:nvSpPr>
          <p:cNvPr id="20" name="Text 17"/>
          <p:cNvSpPr/>
          <p:nvPr/>
        </p:nvSpPr>
        <p:spPr>
          <a:xfrm>
            <a:off x="8503920" y="3575304"/>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1 screen</a:t>
            </a:r>
            <a:endParaRPr lang="en-US" sz="1100" dirty="0"/>
          </a:p>
        </p:txBody>
      </p:sp>
      <p:sp>
        <p:nvSpPr>
          <p:cNvPr id="21" name="Text 18"/>
          <p:cNvSpPr/>
          <p:nvPr/>
        </p:nvSpPr>
        <p:spPr>
          <a:xfrm>
            <a:off x="8503920" y="4032504"/>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Narayanganj</a:t>
            </a:r>
            <a:endParaRPr lang="en-US" sz="1500" dirty="0"/>
          </a:p>
        </p:txBody>
      </p:sp>
      <p:sp>
        <p:nvSpPr>
          <p:cNvPr id="22" name="Text 19"/>
          <p:cNvSpPr/>
          <p:nvPr/>
        </p:nvSpPr>
        <p:spPr>
          <a:xfrm>
            <a:off x="8503920" y="4325112"/>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1 screen</a:t>
            </a:r>
            <a:endParaRPr lang="en-US" sz="1100" dirty="0"/>
          </a:p>
        </p:txBody>
      </p:sp>
      <p:sp>
        <p:nvSpPr>
          <p:cNvPr id="23" name="Text 20"/>
          <p:cNvSpPr/>
          <p:nvPr/>
        </p:nvSpPr>
        <p:spPr>
          <a:xfrm>
            <a:off x="8503920" y="4782312"/>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Feni</a:t>
            </a:r>
            <a:endParaRPr lang="en-US" sz="1500" dirty="0"/>
          </a:p>
        </p:txBody>
      </p:sp>
      <p:sp>
        <p:nvSpPr>
          <p:cNvPr id="24" name="Text 21"/>
          <p:cNvSpPr/>
          <p:nvPr/>
        </p:nvSpPr>
        <p:spPr>
          <a:xfrm>
            <a:off x="8503920" y="5074920"/>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1 screen</a:t>
            </a:r>
            <a:endParaRPr lang="en-US" sz="1100" dirty="0"/>
          </a:p>
        </p:txBody>
      </p:sp>
      <p:sp>
        <p:nvSpPr>
          <p:cNvPr id="25" name="Text 22"/>
          <p:cNvSpPr/>
          <p:nvPr/>
        </p:nvSpPr>
        <p:spPr>
          <a:xfrm>
            <a:off x="5394960" y="5532120"/>
            <a:ext cx="5760720" cy="566928"/>
          </a:xfrm>
          <a:prstGeom prst="rect">
            <a:avLst/>
          </a:prstGeom>
          <a:noFill/>
          <a:ln/>
        </p:spPr>
        <p:txBody>
          <a:bodyPr wrap="square" lIns="0" tIns="0" rIns="0" bIns="0" rtlCol="0" anchor="t"/>
          <a:lstStyle/>
          <a:p>
            <a:pPr indent="0" marL="0">
              <a:lnSpc>
                <a:spcPts val="1400"/>
              </a:lnSpc>
              <a:buNone/>
            </a:pPr>
            <a:r>
              <a:rPr lang="en-US" sz="1000" dirty="0">
                <a:solidFill>
                  <a:srgbClr val="4A5A72"/>
                </a:solidFill>
                <a:latin typeface="Arial" pitchFamily="34" charset="0"/>
                <a:ea typeface="Arial" pitchFamily="34" charset="-122"/>
                <a:cs typeface="Arial" pitchFamily="34" charset="-120"/>
              </a:rPr>
              <a:t>Head office and studio in Gulshan, Dhaka; registered office in Purana Paltan. Field operations run from Dhaka with resident crews and contracted riggers in each divisional city, which is what keeps a replacement inside the same working day rather than the same week.</a:t>
            </a:r>
            <a:endParaRPr lang="en-US" sz="1000" dirty="0"/>
          </a:p>
        </p:txBody>
      </p:sp>
      <p:sp>
        <p:nvSpPr>
          <p:cNvPr id="26" name="Text 23"/>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27" name="Text 24"/>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3 / 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3A63"/>
        </a:solidFill>
      </p:bgPr>
    </p:bg>
    <p:spTree>
      <p:nvGrpSpPr>
        <p:cNvPr id="1" name=""/>
        <p:cNvGrpSpPr/>
        <p:nvPr/>
      </p:nvGrpSpPr>
      <p:grpSpPr>
        <a:xfrm>
          <a:off x="0" y="0"/>
          <a:ext cx="0" cy="0"/>
          <a:chOff x="0" y="0"/>
          <a:chExt cx="0" cy="0"/>
        </a:xfrm>
      </p:grpSpPr>
      <p:pic>
        <p:nvPicPr>
          <p:cNvPr id="2" name="Image 0" descr="AD PRO permitted outdoor sites in Dhaka">    </p:cNvPr>
          <p:cNvPicPr>
            <a:picLocks noChangeAspect="1"/>
          </p:cNvPicPr>
          <p:nvPr/>
        </p:nvPicPr>
        <p:blipFill>
          <a:blip r:embed="rId1"/>
          <a:srcRect l="0" r="0" t="0" b="0"/>
          <a:stretch/>
        </p:blipFill>
        <p:spPr>
          <a:xfrm>
            <a:off x="0" y="0"/>
            <a:ext cx="12191695" cy="1737360"/>
          </a:xfrm>
          <a:prstGeom prst="rect">
            <a:avLst/>
          </a:prstGeom>
        </p:spPr>
      </p:pic>
      <p:sp>
        <p:nvSpPr>
          <p:cNvPr id="3" name="Shape 0"/>
          <p:cNvSpPr/>
          <p:nvPr/>
        </p:nvSpPr>
        <p:spPr>
          <a:xfrm>
            <a:off x="0" y="1737360"/>
            <a:ext cx="12191695" cy="5120640"/>
          </a:xfrm>
          <a:prstGeom prst="rect">
            <a:avLst/>
          </a:prstGeom>
          <a:solidFill>
            <a:srgbClr val="FFFFFF"/>
          </a:solidFill>
          <a:ln/>
        </p:spPr>
      </p:sp>
      <p:sp>
        <p:nvSpPr>
          <p:cNvPr id="4" name="Text 1"/>
          <p:cNvSpPr/>
          <p:nvPr/>
        </p:nvSpPr>
        <p:spPr>
          <a:xfrm>
            <a:off x="566928" y="2057400"/>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GOVERNMENT LIAISON</a:t>
            </a:r>
            <a:endParaRPr lang="en-US" sz="1100" dirty="0"/>
          </a:p>
        </p:txBody>
      </p:sp>
      <p:sp>
        <p:nvSpPr>
          <p:cNvPr id="5" name="Text 2"/>
          <p:cNvSpPr/>
          <p:nvPr/>
        </p:nvSpPr>
        <p:spPr>
          <a:xfrm>
            <a:off x="566928" y="2350008"/>
            <a:ext cx="11057839" cy="713232"/>
          </a:xfrm>
          <a:prstGeom prst="rect">
            <a:avLst/>
          </a:prstGeom>
          <a:noFill/>
          <a:ln/>
        </p:spPr>
        <p:txBody>
          <a:bodyPr wrap="square" lIns="0" tIns="0" rIns="0" bIns="0" rtlCol="0" anchor="t"/>
          <a:lstStyle/>
          <a:p>
            <a:pPr indent="0" marL="0">
              <a:buNone/>
            </a:pPr>
            <a:r>
              <a:rPr lang="en-US" sz="2700" dirty="0">
                <a:solidFill>
                  <a:srgbClr val="1E3A63"/>
                </a:solidFill>
                <a:latin typeface="Arial" pitchFamily="34" charset="0"/>
                <a:ea typeface="Arial" pitchFamily="34" charset="-122"/>
                <a:cs typeface="Arial" pitchFamily="34" charset="-120"/>
              </a:rPr>
              <a:t>The part of this contract that goes wrong is the part we do in-house.</a:t>
            </a:r>
            <a:endParaRPr lang="en-US" sz="2700" dirty="0"/>
          </a:p>
        </p:txBody>
      </p:sp>
      <p:sp>
        <p:nvSpPr>
          <p:cNvPr id="6" name="Text 3"/>
          <p:cNvSpPr/>
          <p:nvPr/>
        </p:nvSpPr>
        <p:spPr>
          <a:xfrm>
            <a:off x="566928" y="3127248"/>
            <a:ext cx="5029200" cy="1371600"/>
          </a:xfrm>
          <a:prstGeom prst="rect">
            <a:avLst/>
          </a:prstGeom>
          <a:noFill/>
          <a:ln/>
        </p:spPr>
        <p:txBody>
          <a:bodyPr wrap="square" lIns="0" tIns="0" rIns="0" bIns="0" rtlCol="0" anchor="t"/>
          <a:lstStyle/>
          <a:p>
            <a:pPr indent="0" marL="0">
              <a:lnSpc>
                <a:spcPts val="1800"/>
              </a:lnSpc>
              <a:buNone/>
            </a:pPr>
            <a:r>
              <a:rPr lang="en-US" sz="1200" dirty="0">
                <a:solidFill>
                  <a:srgbClr val="4A5A72"/>
                </a:solidFill>
                <a:latin typeface="Arial" pitchFamily="34" charset="0"/>
                <a:ea typeface="Arial" pitchFamily="34" charset="-122"/>
                <a:cs typeface="Arial" pitchFamily="34" charset="-120"/>
              </a:rPr>
              <a:t>Unauthorised branding in Bangladesh is not a paperwork problem. It is a removal, a fine, and a conversation with a city corporation that then remembers your brand. AD PRO does not subcontract this: every one of our fifty-eight sites is held under permissions we obtained and renew ourselves.</a:t>
            </a:r>
            <a:endParaRPr lang="en-US" sz="1200" dirty="0"/>
          </a:p>
        </p:txBody>
      </p:sp>
      <p:sp>
        <p:nvSpPr>
          <p:cNvPr id="7" name="Shape 4"/>
          <p:cNvSpPr/>
          <p:nvPr/>
        </p:nvSpPr>
        <p:spPr>
          <a:xfrm>
            <a:off x="566928" y="4617720"/>
            <a:ext cx="5029200" cy="1508760"/>
          </a:xfrm>
          <a:prstGeom prst="rect">
            <a:avLst/>
          </a:prstGeom>
          <a:solidFill>
            <a:srgbClr val="F4F8FD"/>
          </a:solidFill>
          <a:ln/>
        </p:spPr>
      </p:sp>
      <p:sp>
        <p:nvSpPr>
          <p:cNvPr id="8" name="Text 5"/>
          <p:cNvSpPr/>
          <p:nvPr/>
        </p:nvSpPr>
        <p:spPr>
          <a:xfrm>
            <a:off x="841248" y="4828032"/>
            <a:ext cx="44805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The two-key rule</a:t>
            </a:r>
            <a:endParaRPr lang="en-US" sz="1500" dirty="0"/>
          </a:p>
        </p:txBody>
      </p:sp>
      <p:sp>
        <p:nvSpPr>
          <p:cNvPr id="9" name="Text 6"/>
          <p:cNvSpPr/>
          <p:nvPr/>
        </p:nvSpPr>
        <p:spPr>
          <a:xfrm>
            <a:off x="841248" y="5175504"/>
            <a:ext cx="4480560" cy="777240"/>
          </a:xfrm>
          <a:prstGeom prst="rect">
            <a:avLst/>
          </a:prstGeom>
          <a:noFill/>
          <a:ln/>
        </p:spPr>
        <p:txBody>
          <a:bodyPr wrap="square" lIns="0" tIns="0" rIns="0" bIns="0" rtlCol="0" anchor="t"/>
          <a:lstStyle/>
          <a:p>
            <a:pPr indent="0" marL="0">
              <a:lnSpc>
                <a:spcPts val="1600"/>
              </a:lnSpc>
              <a:buNone/>
            </a:pPr>
            <a:r>
              <a:rPr lang="en-US" sz="1100" dirty="0">
                <a:solidFill>
                  <a:srgbClr val="4A5A72"/>
                </a:solidFill>
                <a:latin typeface="Arial" pitchFamily="34" charset="0"/>
                <a:ea typeface="Arial" pitchFamily="34" charset="-122"/>
                <a:cs typeface="Arial" pitchFamily="34" charset="-120"/>
              </a:rPr>
              <a:t>Nothing is installed without Uber's written approval and the authority's permission. Neither key alone opens the site, and AD PRO holds no site on anyone else's licence.</a:t>
            </a:r>
            <a:endParaRPr lang="en-US" sz="1100" dirty="0"/>
          </a:p>
        </p:txBody>
      </p:sp>
      <p:sp>
        <p:nvSpPr>
          <p:cNvPr id="10" name="Text 7"/>
          <p:cNvSpPr/>
          <p:nvPr/>
        </p:nvSpPr>
        <p:spPr>
          <a:xfrm>
            <a:off x="5943600" y="3127248"/>
            <a:ext cx="2743200" cy="219456"/>
          </a:xfrm>
          <a:prstGeom prst="rect">
            <a:avLst/>
          </a:prstGeom>
          <a:noFill/>
          <a:ln/>
        </p:spPr>
        <p:txBody>
          <a:bodyPr wrap="square" lIns="0" tIns="0" rIns="0" bIns="0" rtlCol="0" anchor="ctr"/>
          <a:lstStyle/>
          <a:p>
            <a:pPr indent="0" marL="0">
              <a:buNone/>
            </a:pPr>
            <a:r>
              <a:rPr lang="en-US" sz="900" b="1" spc="140" kern="0" dirty="0">
                <a:solidFill>
                  <a:srgbClr val="7A8798"/>
                </a:solidFill>
                <a:latin typeface="Arial" pitchFamily="34" charset="0"/>
                <a:ea typeface="Arial" pitchFamily="34" charset="-122"/>
                <a:cs typeface="Arial" pitchFamily="34" charset="-120"/>
              </a:rPr>
              <a:t>AUTHORITY</a:t>
            </a:r>
            <a:endParaRPr lang="en-US" sz="900" dirty="0"/>
          </a:p>
        </p:txBody>
      </p:sp>
      <p:sp>
        <p:nvSpPr>
          <p:cNvPr id="11" name="Text 8"/>
          <p:cNvSpPr/>
          <p:nvPr/>
        </p:nvSpPr>
        <p:spPr>
          <a:xfrm>
            <a:off x="9966960" y="3127248"/>
            <a:ext cx="1645920" cy="219456"/>
          </a:xfrm>
          <a:prstGeom prst="rect">
            <a:avLst/>
          </a:prstGeom>
          <a:noFill/>
          <a:ln/>
        </p:spPr>
        <p:txBody>
          <a:bodyPr wrap="square" lIns="0" tIns="0" rIns="0" bIns="0" rtlCol="0" anchor="ctr"/>
          <a:lstStyle/>
          <a:p>
            <a:pPr algn="r" indent="0" marL="0">
              <a:buNone/>
            </a:pPr>
            <a:r>
              <a:rPr lang="en-US" sz="900" b="1" spc="140" kern="0" dirty="0">
                <a:solidFill>
                  <a:srgbClr val="7A8798"/>
                </a:solidFill>
                <a:latin typeface="Arial" pitchFamily="34" charset="0"/>
                <a:ea typeface="Arial" pitchFamily="34" charset="-122"/>
                <a:cs typeface="Arial" pitchFamily="34" charset="-120"/>
              </a:rPr>
              <a:t>LEAD TIME</a:t>
            </a:r>
            <a:endParaRPr lang="en-US" sz="900" dirty="0"/>
          </a:p>
        </p:txBody>
      </p:sp>
      <p:sp>
        <p:nvSpPr>
          <p:cNvPr id="12" name="Shape 9"/>
          <p:cNvSpPr/>
          <p:nvPr/>
        </p:nvSpPr>
        <p:spPr>
          <a:xfrm>
            <a:off x="5943600" y="3383280"/>
            <a:ext cx="5669280" cy="0"/>
          </a:xfrm>
          <a:prstGeom prst="line">
            <a:avLst/>
          </a:prstGeom>
          <a:noFill/>
          <a:ln w="12700">
            <a:solidFill>
              <a:srgbClr val="1E3A63"/>
            </a:solidFill>
            <a:prstDash val="solid"/>
          </a:ln>
        </p:spPr>
      </p:sp>
      <p:sp>
        <p:nvSpPr>
          <p:cNvPr id="13" name="Text 10"/>
          <p:cNvSpPr/>
          <p:nvPr/>
        </p:nvSpPr>
        <p:spPr>
          <a:xfrm>
            <a:off x="6016752" y="34930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Dhaka North &amp; South City Corporations</a:t>
            </a:r>
            <a:endParaRPr lang="en-US" sz="1000" dirty="0"/>
          </a:p>
        </p:txBody>
      </p:sp>
      <p:sp>
        <p:nvSpPr>
          <p:cNvPr id="14" name="Text 11"/>
          <p:cNvSpPr/>
          <p:nvPr/>
        </p:nvSpPr>
        <p:spPr>
          <a:xfrm>
            <a:off x="6016752" y="36850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Billboards, megasigns, wall branding, kiosks</a:t>
            </a:r>
            <a:endParaRPr lang="en-US" sz="900" dirty="0"/>
          </a:p>
        </p:txBody>
      </p:sp>
      <p:sp>
        <p:nvSpPr>
          <p:cNvPr id="15" name="Text 12"/>
          <p:cNvSpPr/>
          <p:nvPr/>
        </p:nvSpPr>
        <p:spPr>
          <a:xfrm>
            <a:off x="9966960" y="35387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2 to 4 weeks</a:t>
            </a:r>
            <a:endParaRPr lang="en-US" sz="1000" dirty="0"/>
          </a:p>
        </p:txBody>
      </p:sp>
      <p:sp>
        <p:nvSpPr>
          <p:cNvPr id="16" name="Shape 13"/>
          <p:cNvSpPr/>
          <p:nvPr/>
        </p:nvSpPr>
        <p:spPr>
          <a:xfrm>
            <a:off x="5943600" y="3913632"/>
            <a:ext cx="5669280" cy="438912"/>
          </a:xfrm>
          <a:prstGeom prst="rect">
            <a:avLst/>
          </a:prstGeom>
          <a:solidFill>
            <a:srgbClr val="F4F8FD"/>
          </a:solidFill>
          <a:ln/>
        </p:spPr>
      </p:sp>
      <p:sp>
        <p:nvSpPr>
          <p:cNvPr id="17" name="Text 14"/>
          <p:cNvSpPr/>
          <p:nvPr/>
        </p:nvSpPr>
        <p:spPr>
          <a:xfrm>
            <a:off x="6016752" y="39502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City corporations, nine other cities</a:t>
            </a:r>
            <a:endParaRPr lang="en-US" sz="1000" dirty="0"/>
          </a:p>
        </p:txBody>
      </p:sp>
      <p:sp>
        <p:nvSpPr>
          <p:cNvPr id="18" name="Text 15"/>
          <p:cNvSpPr/>
          <p:nvPr/>
        </p:nvSpPr>
        <p:spPr>
          <a:xfrm>
            <a:off x="6016752" y="41422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The same categories outside Dhaka</a:t>
            </a:r>
            <a:endParaRPr lang="en-US" sz="900" dirty="0"/>
          </a:p>
        </p:txBody>
      </p:sp>
      <p:sp>
        <p:nvSpPr>
          <p:cNvPr id="19" name="Text 16"/>
          <p:cNvSpPr/>
          <p:nvPr/>
        </p:nvSpPr>
        <p:spPr>
          <a:xfrm>
            <a:off x="9966960" y="39959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2 to 5 weeks</a:t>
            </a:r>
            <a:endParaRPr lang="en-US" sz="1000" dirty="0"/>
          </a:p>
        </p:txBody>
      </p:sp>
      <p:sp>
        <p:nvSpPr>
          <p:cNvPr id="20" name="Text 17"/>
          <p:cNvSpPr/>
          <p:nvPr/>
        </p:nvSpPr>
        <p:spPr>
          <a:xfrm>
            <a:off x="6016752" y="44074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RAJUK</a:t>
            </a:r>
            <a:endParaRPr lang="en-US" sz="1000" dirty="0"/>
          </a:p>
        </p:txBody>
      </p:sp>
      <p:sp>
        <p:nvSpPr>
          <p:cNvPr id="21" name="Text 18"/>
          <p:cNvSpPr/>
          <p:nvPr/>
        </p:nvSpPr>
        <p:spPr>
          <a:xfrm>
            <a:off x="6016752" y="45994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Structural consent for gantries and unipoles</a:t>
            </a:r>
            <a:endParaRPr lang="en-US" sz="900" dirty="0"/>
          </a:p>
        </p:txBody>
      </p:sp>
      <p:sp>
        <p:nvSpPr>
          <p:cNvPr id="22" name="Text 19"/>
          <p:cNvSpPr/>
          <p:nvPr/>
        </p:nvSpPr>
        <p:spPr>
          <a:xfrm>
            <a:off x="9966960" y="44531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3 to 6 weeks</a:t>
            </a:r>
            <a:endParaRPr lang="en-US" sz="1000" dirty="0"/>
          </a:p>
        </p:txBody>
      </p:sp>
      <p:sp>
        <p:nvSpPr>
          <p:cNvPr id="23" name="Shape 20"/>
          <p:cNvSpPr/>
          <p:nvPr/>
        </p:nvSpPr>
        <p:spPr>
          <a:xfrm>
            <a:off x="5943600" y="4828032"/>
            <a:ext cx="5669280" cy="438912"/>
          </a:xfrm>
          <a:prstGeom prst="rect">
            <a:avLst/>
          </a:prstGeom>
          <a:solidFill>
            <a:srgbClr val="F4F8FD"/>
          </a:solidFill>
          <a:ln/>
        </p:spPr>
      </p:sp>
      <p:sp>
        <p:nvSpPr>
          <p:cNvPr id="24" name="Text 21"/>
          <p:cNvSpPr/>
          <p:nvPr/>
        </p:nvSpPr>
        <p:spPr>
          <a:xfrm>
            <a:off x="6016752" y="48646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DMTCL</a:t>
            </a:r>
            <a:endParaRPr lang="en-US" sz="1000" dirty="0"/>
          </a:p>
        </p:txBody>
      </p:sp>
      <p:sp>
        <p:nvSpPr>
          <p:cNvPr id="25" name="Text 22"/>
          <p:cNvSpPr/>
          <p:nvPr/>
        </p:nvSpPr>
        <p:spPr>
          <a:xfrm>
            <a:off x="6016752" y="50566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Metro rail coach and station branding</a:t>
            </a:r>
            <a:endParaRPr lang="en-US" sz="900" dirty="0"/>
          </a:p>
        </p:txBody>
      </p:sp>
      <p:sp>
        <p:nvSpPr>
          <p:cNvPr id="26" name="Text 23"/>
          <p:cNvSpPr/>
          <p:nvPr/>
        </p:nvSpPr>
        <p:spPr>
          <a:xfrm>
            <a:off x="9966960" y="49103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3 to 5 weeks</a:t>
            </a:r>
            <a:endParaRPr lang="en-US" sz="1000" dirty="0"/>
          </a:p>
        </p:txBody>
      </p:sp>
      <p:sp>
        <p:nvSpPr>
          <p:cNvPr id="27" name="Text 24"/>
          <p:cNvSpPr/>
          <p:nvPr/>
        </p:nvSpPr>
        <p:spPr>
          <a:xfrm>
            <a:off x="6016752" y="53218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Bangladesh Railway</a:t>
            </a:r>
            <a:endParaRPr lang="en-US" sz="1000" dirty="0"/>
          </a:p>
        </p:txBody>
      </p:sp>
      <p:sp>
        <p:nvSpPr>
          <p:cNvPr id="28" name="Text 25"/>
          <p:cNvSpPr/>
          <p:nvPr/>
        </p:nvSpPr>
        <p:spPr>
          <a:xfrm>
            <a:off x="6016752" y="55138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Station and track branding, station stores</a:t>
            </a:r>
            <a:endParaRPr lang="en-US" sz="900" dirty="0"/>
          </a:p>
        </p:txBody>
      </p:sp>
      <p:sp>
        <p:nvSpPr>
          <p:cNvPr id="29" name="Text 26"/>
          <p:cNvSpPr/>
          <p:nvPr/>
        </p:nvSpPr>
        <p:spPr>
          <a:xfrm>
            <a:off x="9966960" y="53675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3 to 5 weeks</a:t>
            </a:r>
            <a:endParaRPr lang="en-US" sz="1000" dirty="0"/>
          </a:p>
        </p:txBody>
      </p:sp>
      <p:sp>
        <p:nvSpPr>
          <p:cNvPr id="30" name="Shape 27"/>
          <p:cNvSpPr/>
          <p:nvPr/>
        </p:nvSpPr>
        <p:spPr>
          <a:xfrm>
            <a:off x="5943600" y="5742432"/>
            <a:ext cx="5669280" cy="438912"/>
          </a:xfrm>
          <a:prstGeom prst="rect">
            <a:avLst/>
          </a:prstGeom>
          <a:solidFill>
            <a:srgbClr val="F4F8FD"/>
          </a:solidFill>
          <a:ln/>
        </p:spPr>
      </p:sp>
      <p:sp>
        <p:nvSpPr>
          <p:cNvPr id="31" name="Text 28"/>
          <p:cNvSpPr/>
          <p:nvPr/>
        </p:nvSpPr>
        <p:spPr>
          <a:xfrm>
            <a:off x="6016752" y="57790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Civil Aviation Authority / airport</a:t>
            </a:r>
            <a:endParaRPr lang="en-US" sz="1000" dirty="0"/>
          </a:p>
        </p:txBody>
      </p:sp>
      <p:sp>
        <p:nvSpPr>
          <p:cNvPr id="32" name="Text 29"/>
          <p:cNvSpPr/>
          <p:nvPr/>
        </p:nvSpPr>
        <p:spPr>
          <a:xfrm>
            <a:off x="6016752" y="59710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Airport terminal and approach-road branding</a:t>
            </a:r>
            <a:endParaRPr lang="en-US" sz="900" dirty="0"/>
          </a:p>
        </p:txBody>
      </p:sp>
      <p:sp>
        <p:nvSpPr>
          <p:cNvPr id="33" name="Text 30"/>
          <p:cNvSpPr/>
          <p:nvPr/>
        </p:nvSpPr>
        <p:spPr>
          <a:xfrm>
            <a:off x="9966960" y="58247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4 to 6 weeks</a:t>
            </a:r>
            <a:endParaRPr lang="en-US" sz="1000" dirty="0"/>
          </a:p>
        </p:txBody>
      </p:sp>
      <p:sp>
        <p:nvSpPr>
          <p:cNvPr id="34" name="Text 31"/>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35" name="Text 32"/>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4 / 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566928"/>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COMMERCIAL · 5.2</a:t>
            </a:r>
            <a:endParaRPr lang="en-US" sz="1100" dirty="0"/>
          </a:p>
        </p:txBody>
      </p:sp>
      <p:sp>
        <p:nvSpPr>
          <p:cNvPr id="3" name="Text 1"/>
          <p:cNvSpPr/>
          <p:nvPr/>
        </p:nvSpPr>
        <p:spPr>
          <a:xfrm>
            <a:off x="566928" y="859536"/>
            <a:ext cx="11057839" cy="713232"/>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The operator’s rate, sold by the minute.</a:t>
            </a:r>
            <a:endParaRPr lang="en-US" sz="3000" dirty="0"/>
          </a:p>
        </p:txBody>
      </p:sp>
      <p:sp>
        <p:nvSpPr>
          <p:cNvPr id="4" name="Shape 2"/>
          <p:cNvSpPr/>
          <p:nvPr/>
        </p:nvSpPr>
        <p:spPr>
          <a:xfrm>
            <a:off x="566928" y="1783080"/>
            <a:ext cx="3381146" cy="1371600"/>
          </a:xfrm>
          <a:prstGeom prst="rect">
            <a:avLst/>
          </a:prstGeom>
          <a:solidFill>
            <a:srgbClr val="F4F8FD"/>
          </a:solidFill>
          <a:ln/>
        </p:spPr>
      </p:sp>
      <p:sp>
        <p:nvSpPr>
          <p:cNvPr id="5" name="Text 3"/>
          <p:cNvSpPr/>
          <p:nvPr/>
        </p:nvSpPr>
        <p:spPr>
          <a:xfrm>
            <a:off x="786384" y="1920240"/>
            <a:ext cx="2942234" cy="640080"/>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53</a:t>
            </a:r>
            <a:endParaRPr lang="en-US" sz="3000" dirty="0"/>
          </a:p>
        </p:txBody>
      </p:sp>
      <p:sp>
        <p:nvSpPr>
          <p:cNvPr id="6" name="Text 4"/>
          <p:cNvSpPr/>
          <p:nvPr/>
        </p:nvSpPr>
        <p:spPr>
          <a:xfrm>
            <a:off x="786384" y="2578608"/>
            <a:ext cx="2942234" cy="457200"/>
          </a:xfrm>
          <a:prstGeom prst="rect">
            <a:avLst/>
          </a:prstGeom>
          <a:noFill/>
          <a:ln/>
        </p:spPr>
        <p:txBody>
          <a:bodyPr wrap="square" lIns="0" tIns="0" rIns="0" bIns="0" rtlCol="0" anchor="ctr"/>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screens with a published minute rate</a:t>
            </a:r>
            <a:endParaRPr lang="en-US" sz="1050" dirty="0"/>
          </a:p>
        </p:txBody>
      </p:sp>
      <p:sp>
        <p:nvSpPr>
          <p:cNvPr id="7" name="Shape 5"/>
          <p:cNvSpPr/>
          <p:nvPr/>
        </p:nvSpPr>
        <p:spPr>
          <a:xfrm>
            <a:off x="4405274" y="1783080"/>
            <a:ext cx="3381146" cy="1371600"/>
          </a:xfrm>
          <a:prstGeom prst="rect">
            <a:avLst/>
          </a:prstGeom>
          <a:solidFill>
            <a:srgbClr val="F4F8FD"/>
          </a:solidFill>
          <a:ln/>
        </p:spPr>
      </p:sp>
      <p:sp>
        <p:nvSpPr>
          <p:cNvPr id="8" name="Text 6"/>
          <p:cNvSpPr/>
          <p:nvPr/>
        </p:nvSpPr>
        <p:spPr>
          <a:xfrm>
            <a:off x="4624730" y="1920240"/>
            <a:ext cx="2942234" cy="640080"/>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50 to 200</a:t>
            </a:r>
            <a:endParaRPr lang="en-US" sz="3000" dirty="0"/>
          </a:p>
        </p:txBody>
      </p:sp>
      <p:sp>
        <p:nvSpPr>
          <p:cNvPr id="9" name="Text 7"/>
          <p:cNvSpPr/>
          <p:nvPr/>
        </p:nvSpPr>
        <p:spPr>
          <a:xfrm>
            <a:off x="4624730" y="2578608"/>
            <a:ext cx="2942234" cy="457200"/>
          </a:xfrm>
          <a:prstGeom prst="rect">
            <a:avLst/>
          </a:prstGeom>
          <a:noFill/>
          <a:ln/>
        </p:spPr>
        <p:txBody>
          <a:bodyPr wrap="square" lIns="0" tIns="0" rIns="0" bIns="0" rtlCol="0" anchor="ctr"/>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BDT per minute, per day, by site</a:t>
            </a:r>
            <a:endParaRPr lang="en-US" sz="1050" dirty="0"/>
          </a:p>
        </p:txBody>
      </p:sp>
      <p:sp>
        <p:nvSpPr>
          <p:cNvPr id="10" name="Shape 8"/>
          <p:cNvSpPr/>
          <p:nvPr/>
        </p:nvSpPr>
        <p:spPr>
          <a:xfrm>
            <a:off x="8243621" y="1783080"/>
            <a:ext cx="3381146" cy="1371600"/>
          </a:xfrm>
          <a:prstGeom prst="rect">
            <a:avLst/>
          </a:prstGeom>
          <a:solidFill>
            <a:srgbClr val="F4F8FD"/>
          </a:solidFill>
          <a:ln/>
        </p:spPr>
      </p:sp>
      <p:sp>
        <p:nvSpPr>
          <p:cNvPr id="11" name="Text 9"/>
          <p:cNvSpPr/>
          <p:nvPr/>
        </p:nvSpPr>
        <p:spPr>
          <a:xfrm>
            <a:off x="8463077" y="1920240"/>
            <a:ext cx="2942234" cy="640080"/>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0</a:t>
            </a:r>
            <a:endParaRPr lang="en-US" sz="3000" dirty="0"/>
          </a:p>
        </p:txBody>
      </p:sp>
      <p:sp>
        <p:nvSpPr>
          <p:cNvPr id="12" name="Text 10"/>
          <p:cNvSpPr/>
          <p:nvPr/>
        </p:nvSpPr>
        <p:spPr>
          <a:xfrm>
            <a:off x="8463077" y="2578608"/>
            <a:ext cx="2942234" cy="457200"/>
          </a:xfrm>
          <a:prstGeom prst="rect">
            <a:avLst/>
          </a:prstGeom>
          <a:noFill/>
          <a:ln/>
        </p:spPr>
        <p:txBody>
          <a:bodyPr wrap="square" lIns="0" tIns="0" rIns="0" bIns="0" rtlCol="0" anchor="ctr"/>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agency margin added to any of them</a:t>
            </a:r>
            <a:endParaRPr lang="en-US" sz="1050" dirty="0"/>
          </a:p>
        </p:txBody>
      </p:sp>
      <p:pic>
        <p:nvPicPr>
          <p:cNvPr id="13" name="Image 0" descr="An AD PRO LED screen in Dhaka">    </p:cNvPr>
          <p:cNvPicPr>
            <a:picLocks noChangeAspect="1"/>
          </p:cNvPicPr>
          <p:nvPr/>
        </p:nvPicPr>
        <p:blipFill>
          <a:blip r:embed="rId1"/>
          <a:srcRect l="0" r="0" t="0" b="0"/>
          <a:stretch/>
        </p:blipFill>
        <p:spPr>
          <a:xfrm>
            <a:off x="566928" y="3520440"/>
            <a:ext cx="2545004" cy="1679703"/>
          </a:xfrm>
          <a:prstGeom prst="rect">
            <a:avLst/>
          </a:prstGeom>
        </p:spPr>
      </p:pic>
      <p:sp>
        <p:nvSpPr>
          <p:cNvPr id="14" name="Text 11"/>
          <p:cNvSpPr/>
          <p:nvPr/>
        </p:nvSpPr>
        <p:spPr>
          <a:xfrm>
            <a:off x="566928" y="5245863"/>
            <a:ext cx="2545004" cy="274320"/>
          </a:xfrm>
          <a:prstGeom prst="rect">
            <a:avLst/>
          </a:prstGeom>
          <a:noFill/>
          <a:ln/>
        </p:spPr>
        <p:txBody>
          <a:bodyPr wrap="square" lIns="0" tIns="0" rIns="0" bIns="0" rtlCol="0" anchor="ctr"/>
          <a:lstStyle/>
          <a:p>
            <a:pPr indent="0" marL="0">
              <a:buNone/>
            </a:pPr>
            <a:r>
              <a:rPr lang="en-US" sz="1200" b="1" dirty="0">
                <a:solidFill>
                  <a:srgbClr val="1E3A63"/>
                </a:solidFill>
                <a:latin typeface="Arial" pitchFamily="34" charset="0"/>
                <a:ea typeface="Arial" pitchFamily="34" charset="-122"/>
                <a:cs typeface="Arial" pitchFamily="34" charset="-120"/>
              </a:rPr>
              <a:t>Dhaka</a:t>
            </a:r>
            <a:endParaRPr lang="en-US" sz="1200" dirty="0"/>
          </a:p>
        </p:txBody>
      </p:sp>
      <p:pic>
        <p:nvPicPr>
          <p:cNvPr id="15" name="Image 1" descr="An AD PRO LED screen in Sylhet">    </p:cNvPr>
          <p:cNvPicPr>
            <a:picLocks noChangeAspect="1"/>
          </p:cNvPicPr>
          <p:nvPr/>
        </p:nvPicPr>
        <p:blipFill>
          <a:blip r:embed="rId2"/>
          <a:srcRect l="0" r="0" t="0" b="0"/>
          <a:stretch/>
        </p:blipFill>
        <p:spPr>
          <a:xfrm>
            <a:off x="3404540" y="3520440"/>
            <a:ext cx="2545004" cy="1679703"/>
          </a:xfrm>
          <a:prstGeom prst="rect">
            <a:avLst/>
          </a:prstGeom>
        </p:spPr>
      </p:pic>
      <p:sp>
        <p:nvSpPr>
          <p:cNvPr id="16" name="Text 12"/>
          <p:cNvSpPr/>
          <p:nvPr/>
        </p:nvSpPr>
        <p:spPr>
          <a:xfrm>
            <a:off x="3404540" y="5245863"/>
            <a:ext cx="2545004" cy="274320"/>
          </a:xfrm>
          <a:prstGeom prst="rect">
            <a:avLst/>
          </a:prstGeom>
          <a:noFill/>
          <a:ln/>
        </p:spPr>
        <p:txBody>
          <a:bodyPr wrap="square" lIns="0" tIns="0" rIns="0" bIns="0" rtlCol="0" anchor="ctr"/>
          <a:lstStyle/>
          <a:p>
            <a:pPr indent="0" marL="0">
              <a:buNone/>
            </a:pPr>
            <a:r>
              <a:rPr lang="en-US" sz="1200" b="1" dirty="0">
                <a:solidFill>
                  <a:srgbClr val="1E3A63"/>
                </a:solidFill>
                <a:latin typeface="Arial" pitchFamily="34" charset="0"/>
                <a:ea typeface="Arial" pitchFamily="34" charset="-122"/>
                <a:cs typeface="Arial" pitchFamily="34" charset="-120"/>
              </a:rPr>
              <a:t>Sylhet</a:t>
            </a:r>
            <a:endParaRPr lang="en-US" sz="1200" dirty="0"/>
          </a:p>
        </p:txBody>
      </p:sp>
      <p:pic>
        <p:nvPicPr>
          <p:cNvPr id="17" name="Image 2" descr="An AD PRO LED screen in Chattogram">    </p:cNvPr>
          <p:cNvPicPr>
            <a:picLocks noChangeAspect="1"/>
          </p:cNvPicPr>
          <p:nvPr/>
        </p:nvPicPr>
        <p:blipFill>
          <a:blip r:embed="rId3"/>
          <a:srcRect l="0" r="0" t="0" b="0"/>
          <a:stretch/>
        </p:blipFill>
        <p:spPr>
          <a:xfrm>
            <a:off x="6242152" y="3520440"/>
            <a:ext cx="2545004" cy="1679703"/>
          </a:xfrm>
          <a:prstGeom prst="rect">
            <a:avLst/>
          </a:prstGeom>
        </p:spPr>
      </p:pic>
      <p:sp>
        <p:nvSpPr>
          <p:cNvPr id="18" name="Text 13"/>
          <p:cNvSpPr/>
          <p:nvPr/>
        </p:nvSpPr>
        <p:spPr>
          <a:xfrm>
            <a:off x="6242152" y="5245863"/>
            <a:ext cx="2545004" cy="274320"/>
          </a:xfrm>
          <a:prstGeom prst="rect">
            <a:avLst/>
          </a:prstGeom>
          <a:noFill/>
          <a:ln/>
        </p:spPr>
        <p:txBody>
          <a:bodyPr wrap="square" lIns="0" tIns="0" rIns="0" bIns="0" rtlCol="0" anchor="ctr"/>
          <a:lstStyle/>
          <a:p>
            <a:pPr indent="0" marL="0">
              <a:buNone/>
            </a:pPr>
            <a:r>
              <a:rPr lang="en-US" sz="1200" b="1" dirty="0">
                <a:solidFill>
                  <a:srgbClr val="1E3A63"/>
                </a:solidFill>
                <a:latin typeface="Arial" pitchFamily="34" charset="0"/>
                <a:ea typeface="Arial" pitchFamily="34" charset="-122"/>
                <a:cs typeface="Arial" pitchFamily="34" charset="-120"/>
              </a:rPr>
              <a:t>Chattogram</a:t>
            </a:r>
            <a:endParaRPr lang="en-US" sz="1200" dirty="0"/>
          </a:p>
        </p:txBody>
      </p:sp>
      <p:pic>
        <p:nvPicPr>
          <p:cNvPr id="19" name="Image 3" descr="An AD PRO LED screen in Cox's Bazar">    </p:cNvPr>
          <p:cNvPicPr>
            <a:picLocks noChangeAspect="1"/>
          </p:cNvPicPr>
          <p:nvPr/>
        </p:nvPicPr>
        <p:blipFill>
          <a:blip r:embed="rId4"/>
          <a:srcRect l="0" r="0" t="0" b="0"/>
          <a:stretch/>
        </p:blipFill>
        <p:spPr>
          <a:xfrm>
            <a:off x="9079763" y="3520440"/>
            <a:ext cx="2545004" cy="1679703"/>
          </a:xfrm>
          <a:prstGeom prst="rect">
            <a:avLst/>
          </a:prstGeom>
        </p:spPr>
      </p:pic>
      <p:sp>
        <p:nvSpPr>
          <p:cNvPr id="20" name="Text 14"/>
          <p:cNvSpPr/>
          <p:nvPr/>
        </p:nvSpPr>
        <p:spPr>
          <a:xfrm>
            <a:off x="9079763" y="5245863"/>
            <a:ext cx="2545004" cy="274320"/>
          </a:xfrm>
          <a:prstGeom prst="rect">
            <a:avLst/>
          </a:prstGeom>
          <a:noFill/>
          <a:ln/>
        </p:spPr>
        <p:txBody>
          <a:bodyPr wrap="square" lIns="0" tIns="0" rIns="0" bIns="0" rtlCol="0" anchor="ctr"/>
          <a:lstStyle/>
          <a:p>
            <a:pPr indent="0" marL="0">
              <a:buNone/>
            </a:pPr>
            <a:r>
              <a:rPr lang="en-US" sz="1200" b="1" dirty="0">
                <a:solidFill>
                  <a:srgbClr val="1E3A63"/>
                </a:solidFill>
                <a:latin typeface="Arial" pitchFamily="34" charset="0"/>
                <a:ea typeface="Arial" pitchFamily="34" charset="-122"/>
                <a:cs typeface="Arial" pitchFamily="34" charset="-120"/>
              </a:rPr>
              <a:t>Cox's Bazar</a:t>
            </a:r>
            <a:endParaRPr lang="en-US" sz="1200" dirty="0"/>
          </a:p>
        </p:txBody>
      </p:sp>
      <p:sp>
        <p:nvSpPr>
          <p:cNvPr id="21" name="Text 15"/>
          <p:cNvSpPr/>
          <p:nvPr/>
        </p:nvSpPr>
        <p:spPr>
          <a:xfrm>
            <a:off x="566928" y="5577840"/>
            <a:ext cx="7955280" cy="530352"/>
          </a:xfrm>
          <a:prstGeom prst="rect">
            <a:avLst/>
          </a:prstGeom>
          <a:noFill/>
          <a:ln/>
        </p:spPr>
        <p:txBody>
          <a:bodyPr wrap="square" lIns="0" tIns="0" rIns="0" bIns="0" rtlCol="0" anchor="t"/>
          <a:lstStyle/>
          <a:p>
            <a:pPr indent="0" marL="0">
              <a:lnSpc>
                <a:spcPts val="1500"/>
              </a:lnSpc>
              <a:buNone/>
            </a:pPr>
            <a:r>
              <a:rPr lang="en-US" sz="1100" dirty="0">
                <a:solidFill>
                  <a:srgbClr val="4A5A72"/>
                </a:solidFill>
                <a:latin typeface="Arial" pitchFamily="34" charset="0"/>
                <a:ea typeface="Arial" pitchFamily="34" charset="-122"/>
                <a:cs typeface="Arial" pitchFamily="34" charset="-120"/>
              </a:rPr>
              <a:t>Priced per minute per day, as the RFP asks. Every rate in the full response is the rate AD PRO charges as the operator of the screen, because AD PRO owns it. There is no media owner in the chain and therefore nothing to pass through.</a:t>
            </a:r>
            <a:endParaRPr lang="en-US" sz="1100" dirty="0"/>
          </a:p>
        </p:txBody>
      </p:sp>
      <p:sp>
        <p:nvSpPr>
          <p:cNvPr id="22" name="Text 16"/>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23" name="Text 17"/>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5 / 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566928"/>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COMMERCIAL · 5.3 TO 5.6</a:t>
            </a:r>
            <a:endParaRPr lang="en-US" sz="1100" dirty="0"/>
          </a:p>
        </p:txBody>
      </p:sp>
      <p:sp>
        <p:nvSpPr>
          <p:cNvPr id="3" name="Text 1"/>
          <p:cNvSpPr/>
          <p:nvPr/>
        </p:nvSpPr>
        <p:spPr>
          <a:xfrm>
            <a:off x="566928" y="859536"/>
            <a:ext cx="11057839" cy="713232"/>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Everything else in the scope, under one supplier.</a:t>
            </a:r>
            <a:endParaRPr lang="en-US" sz="3000" dirty="0"/>
          </a:p>
        </p:txBody>
      </p:sp>
      <p:sp>
        <p:nvSpPr>
          <p:cNvPr id="4" name="Shape 2"/>
          <p:cNvSpPr/>
          <p:nvPr/>
        </p:nvSpPr>
        <p:spPr>
          <a:xfrm>
            <a:off x="566928" y="1828800"/>
            <a:ext cx="5336896" cy="1874520"/>
          </a:xfrm>
          <a:prstGeom prst="rect">
            <a:avLst/>
          </a:prstGeom>
          <a:solidFill>
            <a:srgbClr val="F4F8FD"/>
          </a:solidFill>
          <a:ln/>
        </p:spPr>
      </p:sp>
      <p:sp>
        <p:nvSpPr>
          <p:cNvPr id="5" name="Text 3"/>
          <p:cNvSpPr/>
          <p:nvPr/>
        </p:nvSpPr>
        <p:spPr>
          <a:xfrm>
            <a:off x="841248" y="2048256"/>
            <a:ext cx="4788256" cy="329184"/>
          </a:xfrm>
          <a:prstGeom prst="rect">
            <a:avLst/>
          </a:prstGeom>
          <a:noFill/>
          <a:ln/>
        </p:spPr>
        <p:txBody>
          <a:bodyPr wrap="square" lIns="0" tIns="0" rIns="0" bIns="0" rtlCol="0" anchor="ctr"/>
          <a:lstStyle/>
          <a:p>
            <a:pPr indent="0" marL="0">
              <a:buNone/>
            </a:pPr>
            <a:r>
              <a:rPr lang="en-US" sz="1700" b="1" dirty="0">
                <a:solidFill>
                  <a:srgbClr val="1E3A63"/>
                </a:solidFill>
                <a:latin typeface="Arial" pitchFamily="34" charset="0"/>
                <a:ea typeface="Arial" pitchFamily="34" charset="-122"/>
                <a:cs typeface="Arial" pitchFamily="34" charset="-120"/>
              </a:rPr>
              <a:t>Foot over bridges</a:t>
            </a:r>
            <a:endParaRPr lang="en-US" sz="1700" dirty="0"/>
          </a:p>
        </p:txBody>
      </p:sp>
      <p:sp>
        <p:nvSpPr>
          <p:cNvPr id="6" name="Text 4"/>
          <p:cNvSpPr/>
          <p:nvPr/>
        </p:nvSpPr>
        <p:spPr>
          <a:xfrm>
            <a:off x="841248" y="2395728"/>
            <a:ext cx="4788256" cy="237744"/>
          </a:xfrm>
          <a:prstGeom prst="rect">
            <a:avLst/>
          </a:prstGeom>
          <a:noFill/>
          <a:ln/>
        </p:spPr>
        <p:txBody>
          <a:bodyPr wrap="square" lIns="0" tIns="0" rIns="0" bIns="0" rtlCol="0" anchor="ctr"/>
          <a:lstStyle/>
          <a:p>
            <a:pPr indent="0" marL="0">
              <a:buNone/>
            </a:pPr>
            <a:r>
              <a:rPr lang="en-US" sz="950" b="1" spc="140" kern="0" dirty="0">
                <a:solidFill>
                  <a:srgbClr val="2C6FC6"/>
                </a:solidFill>
                <a:latin typeface="Arial" pitchFamily="34" charset="0"/>
                <a:ea typeface="Arial" pitchFamily="34" charset="-122"/>
                <a:cs typeface="Arial" pitchFamily="34" charset="-120"/>
              </a:rPr>
              <a:t>18 DHAKA SITES</a:t>
            </a:r>
            <a:endParaRPr lang="en-US" sz="950" dirty="0"/>
          </a:p>
        </p:txBody>
      </p:sp>
      <p:sp>
        <p:nvSpPr>
          <p:cNvPr id="7" name="Text 5"/>
          <p:cNvSpPr/>
          <p:nvPr/>
        </p:nvSpPr>
        <p:spPr>
          <a:xfrm>
            <a:off x="841248" y="2697480"/>
            <a:ext cx="4788256" cy="868680"/>
          </a:xfrm>
          <a:prstGeom prst="rect">
            <a:avLst/>
          </a:prstGeom>
          <a:noFill/>
          <a:ln/>
        </p:spPr>
        <p:txBody>
          <a:bodyPr wrap="square" lIns="0" tIns="0" rIns="0" bIns="0" rtlCol="0" anchor="t"/>
          <a:lstStyle/>
          <a:p>
            <a:pPr indent="0" marL="0">
              <a:lnSpc>
                <a:spcPts val="1600"/>
              </a:lnSpc>
              <a:buNone/>
            </a:pPr>
            <a:r>
              <a:rPr lang="en-US" sz="1100" dirty="0">
                <a:solidFill>
                  <a:srgbClr val="4A5A72"/>
                </a:solidFill>
                <a:latin typeface="Arial" pitchFamily="34" charset="0"/>
                <a:ea typeface="Arial" pitchFamily="34" charset="-122"/>
                <a:cs typeface="Arial" pitchFamily="34" charset="-120"/>
              </a:rPr>
              <a:t>BDT 700,000 to 2,000,000 per site per year. Mostly 30ft x 5ft both sides; Mirpur-10 runs six sides.</a:t>
            </a:r>
            <a:endParaRPr lang="en-US" sz="1100" dirty="0"/>
          </a:p>
        </p:txBody>
      </p:sp>
      <p:sp>
        <p:nvSpPr>
          <p:cNvPr id="8" name="Shape 6"/>
          <p:cNvSpPr/>
          <p:nvPr/>
        </p:nvSpPr>
        <p:spPr>
          <a:xfrm>
            <a:off x="6287872" y="1828800"/>
            <a:ext cx="5336896" cy="1874520"/>
          </a:xfrm>
          <a:prstGeom prst="rect">
            <a:avLst/>
          </a:prstGeom>
          <a:solidFill>
            <a:srgbClr val="F4F8FD"/>
          </a:solidFill>
          <a:ln/>
        </p:spPr>
      </p:sp>
      <p:sp>
        <p:nvSpPr>
          <p:cNvPr id="9" name="Text 7"/>
          <p:cNvSpPr/>
          <p:nvPr/>
        </p:nvSpPr>
        <p:spPr>
          <a:xfrm>
            <a:off x="6562192" y="2048256"/>
            <a:ext cx="4788256" cy="329184"/>
          </a:xfrm>
          <a:prstGeom prst="rect">
            <a:avLst/>
          </a:prstGeom>
          <a:noFill/>
          <a:ln/>
        </p:spPr>
        <p:txBody>
          <a:bodyPr wrap="square" lIns="0" tIns="0" rIns="0" bIns="0" rtlCol="0" anchor="ctr"/>
          <a:lstStyle/>
          <a:p>
            <a:pPr indent="0" marL="0">
              <a:buNone/>
            </a:pPr>
            <a:r>
              <a:rPr lang="en-US" sz="1700" b="1" dirty="0">
                <a:solidFill>
                  <a:srgbClr val="1E3A63"/>
                </a:solidFill>
                <a:latin typeface="Arial" pitchFamily="34" charset="0"/>
                <a:ea typeface="Arial" pitchFamily="34" charset="-122"/>
                <a:cs typeface="Arial" pitchFamily="34" charset="-120"/>
              </a:rPr>
              <a:t>Metro rail pillar light boxes</a:t>
            </a:r>
            <a:endParaRPr lang="en-US" sz="1700" dirty="0"/>
          </a:p>
        </p:txBody>
      </p:sp>
      <p:sp>
        <p:nvSpPr>
          <p:cNvPr id="10" name="Text 8"/>
          <p:cNvSpPr/>
          <p:nvPr/>
        </p:nvSpPr>
        <p:spPr>
          <a:xfrm>
            <a:off x="6562192" y="2395728"/>
            <a:ext cx="4788256" cy="237744"/>
          </a:xfrm>
          <a:prstGeom prst="rect">
            <a:avLst/>
          </a:prstGeom>
          <a:noFill/>
          <a:ln/>
        </p:spPr>
        <p:txBody>
          <a:bodyPr wrap="square" lIns="0" tIns="0" rIns="0" bIns="0" rtlCol="0" anchor="ctr"/>
          <a:lstStyle/>
          <a:p>
            <a:pPr indent="0" marL="0">
              <a:buNone/>
            </a:pPr>
            <a:r>
              <a:rPr lang="en-US" sz="950" b="1" spc="140" kern="0" dirty="0">
                <a:solidFill>
                  <a:srgbClr val="2C6FC6"/>
                </a:solidFill>
                <a:latin typeface="Arial" pitchFamily="34" charset="0"/>
                <a:ea typeface="Arial" pitchFamily="34" charset="-122"/>
                <a:cs typeface="Arial" pitchFamily="34" charset="-120"/>
              </a:rPr>
              <a:t>134 BOXES ON 67 PILLARS</a:t>
            </a:r>
            <a:endParaRPr lang="en-US" sz="950" dirty="0"/>
          </a:p>
        </p:txBody>
      </p:sp>
      <p:sp>
        <p:nvSpPr>
          <p:cNvPr id="11" name="Text 9"/>
          <p:cNvSpPr/>
          <p:nvPr/>
        </p:nvSpPr>
        <p:spPr>
          <a:xfrm>
            <a:off x="6562192" y="2697480"/>
            <a:ext cx="4788256" cy="868680"/>
          </a:xfrm>
          <a:prstGeom prst="rect">
            <a:avLst/>
          </a:prstGeom>
          <a:noFill/>
          <a:ln/>
        </p:spPr>
        <p:txBody>
          <a:bodyPr wrap="square" lIns="0" tIns="0" rIns="0" bIns="0" rtlCol="0" anchor="t"/>
          <a:lstStyle/>
          <a:p>
            <a:pPr indent="0" marL="0">
              <a:lnSpc>
                <a:spcPts val="1600"/>
              </a:lnSpc>
              <a:buNone/>
            </a:pPr>
            <a:r>
              <a:rPr lang="en-US" sz="1100" dirty="0">
                <a:solidFill>
                  <a:srgbClr val="4A5A72"/>
                </a:solidFill>
                <a:latin typeface="Arial" pitchFamily="34" charset="0"/>
                <a:ea typeface="Arial" pitchFamily="34" charset="-122"/>
                <a:cs typeface="Arial" pitchFamily="34" charset="-120"/>
              </a:rPr>
              <a:t>Shahbagh Moor to Purana Paltan Moor, pillars 523-593. BDT 150,000 per box per year. BDT 23,115,000 including VAT.</a:t>
            </a:r>
            <a:endParaRPr lang="en-US" sz="1100" dirty="0"/>
          </a:p>
        </p:txBody>
      </p:sp>
      <p:sp>
        <p:nvSpPr>
          <p:cNvPr id="12" name="Shape 10"/>
          <p:cNvSpPr/>
          <p:nvPr/>
        </p:nvSpPr>
        <p:spPr>
          <a:xfrm>
            <a:off x="566928" y="4032504"/>
            <a:ext cx="5336896" cy="1874520"/>
          </a:xfrm>
          <a:prstGeom prst="rect">
            <a:avLst/>
          </a:prstGeom>
          <a:solidFill>
            <a:srgbClr val="F4F8FD"/>
          </a:solidFill>
          <a:ln/>
        </p:spPr>
      </p:sp>
      <p:sp>
        <p:nvSpPr>
          <p:cNvPr id="13" name="Text 11"/>
          <p:cNvSpPr/>
          <p:nvPr/>
        </p:nvSpPr>
        <p:spPr>
          <a:xfrm>
            <a:off x="841248" y="4251960"/>
            <a:ext cx="4788256" cy="329184"/>
          </a:xfrm>
          <a:prstGeom prst="rect">
            <a:avLst/>
          </a:prstGeom>
          <a:noFill/>
          <a:ln/>
        </p:spPr>
        <p:txBody>
          <a:bodyPr wrap="square" lIns="0" tIns="0" rIns="0" bIns="0" rtlCol="0" anchor="ctr"/>
          <a:lstStyle/>
          <a:p>
            <a:pPr indent="0" marL="0">
              <a:buNone/>
            </a:pPr>
            <a:r>
              <a:rPr lang="en-US" sz="1700" b="1" dirty="0">
                <a:solidFill>
                  <a:srgbClr val="1E3A63"/>
                </a:solidFill>
                <a:latin typeface="Arial" pitchFamily="34" charset="0"/>
                <a:ea typeface="Arial" pitchFamily="34" charset="-122"/>
                <a:cs typeface="Arial" pitchFamily="34" charset="-120"/>
              </a:rPr>
              <a:t>Airport advertising</a:t>
            </a:r>
            <a:endParaRPr lang="en-US" sz="1700" dirty="0"/>
          </a:p>
        </p:txBody>
      </p:sp>
      <p:sp>
        <p:nvSpPr>
          <p:cNvPr id="14" name="Text 12"/>
          <p:cNvSpPr/>
          <p:nvPr/>
        </p:nvSpPr>
        <p:spPr>
          <a:xfrm>
            <a:off x="841248" y="4599432"/>
            <a:ext cx="4788256" cy="237744"/>
          </a:xfrm>
          <a:prstGeom prst="rect">
            <a:avLst/>
          </a:prstGeom>
          <a:noFill/>
          <a:ln/>
        </p:spPr>
        <p:txBody>
          <a:bodyPr wrap="square" lIns="0" tIns="0" rIns="0" bIns="0" rtlCol="0" anchor="ctr"/>
          <a:lstStyle/>
          <a:p>
            <a:pPr indent="0" marL="0">
              <a:buNone/>
            </a:pPr>
            <a:r>
              <a:rPr lang="en-US" sz="950" b="1" spc="140" kern="0" dirty="0">
                <a:solidFill>
                  <a:srgbClr val="2C6FC6"/>
                </a:solidFill>
                <a:latin typeface="Arial" pitchFamily="34" charset="0"/>
                <a:ea typeface="Arial" pitchFamily="34" charset="-122"/>
                <a:cs typeface="Arial" pitchFamily="34" charset="-120"/>
              </a:rPr>
              <a:t>DOMESTIC ARRIVAL, DHAKA</a:t>
            </a:r>
            <a:endParaRPr lang="en-US" sz="950" dirty="0"/>
          </a:p>
        </p:txBody>
      </p:sp>
      <p:sp>
        <p:nvSpPr>
          <p:cNvPr id="15" name="Text 13"/>
          <p:cNvSpPr/>
          <p:nvPr/>
        </p:nvSpPr>
        <p:spPr>
          <a:xfrm>
            <a:off x="841248" y="4901184"/>
            <a:ext cx="4788256" cy="868680"/>
          </a:xfrm>
          <a:prstGeom prst="rect">
            <a:avLst/>
          </a:prstGeom>
          <a:noFill/>
          <a:ln/>
        </p:spPr>
        <p:txBody>
          <a:bodyPr wrap="square" lIns="0" tIns="0" rIns="0" bIns="0" rtlCol="0" anchor="t"/>
          <a:lstStyle/>
          <a:p>
            <a:pPr indent="0" marL="0">
              <a:lnSpc>
                <a:spcPts val="1600"/>
              </a:lnSpc>
              <a:buNone/>
            </a:pPr>
            <a:r>
              <a:rPr lang="en-US" sz="1100" dirty="0">
                <a:solidFill>
                  <a:srgbClr val="4A5A72"/>
                </a:solidFill>
                <a:latin typeface="Arial" pitchFamily="34" charset="0"/>
                <a:ea typeface="Arial" pitchFamily="34" charset="-122"/>
                <a:cs typeface="Arial" pitchFamily="34" charset="-120"/>
              </a:rPr>
              <a:t>Hazrat Shahjalal International, luggage belt wall, W-7' x H-5', on air 7am to 11pm. BDT 2,200,000 per year.</a:t>
            </a:r>
            <a:endParaRPr lang="en-US" sz="1100" dirty="0"/>
          </a:p>
        </p:txBody>
      </p:sp>
      <p:sp>
        <p:nvSpPr>
          <p:cNvPr id="16" name="Shape 14"/>
          <p:cNvSpPr/>
          <p:nvPr/>
        </p:nvSpPr>
        <p:spPr>
          <a:xfrm>
            <a:off x="6287872" y="4032504"/>
            <a:ext cx="5336896" cy="1874520"/>
          </a:xfrm>
          <a:prstGeom prst="rect">
            <a:avLst/>
          </a:prstGeom>
          <a:solidFill>
            <a:srgbClr val="F4F8FD"/>
          </a:solidFill>
          <a:ln/>
        </p:spPr>
      </p:sp>
      <p:sp>
        <p:nvSpPr>
          <p:cNvPr id="17" name="Text 15"/>
          <p:cNvSpPr/>
          <p:nvPr/>
        </p:nvSpPr>
        <p:spPr>
          <a:xfrm>
            <a:off x="6562192" y="4251960"/>
            <a:ext cx="4788256" cy="329184"/>
          </a:xfrm>
          <a:prstGeom prst="rect">
            <a:avLst/>
          </a:prstGeom>
          <a:noFill/>
          <a:ln/>
        </p:spPr>
        <p:txBody>
          <a:bodyPr wrap="square" lIns="0" tIns="0" rIns="0" bIns="0" rtlCol="0" anchor="ctr"/>
          <a:lstStyle/>
          <a:p>
            <a:pPr indent="0" marL="0">
              <a:buNone/>
            </a:pPr>
            <a:r>
              <a:rPr lang="en-US" sz="1700" b="1" dirty="0">
                <a:solidFill>
                  <a:srgbClr val="1E3A63"/>
                </a:solidFill>
                <a:latin typeface="Arial" pitchFamily="34" charset="0"/>
                <a:ea typeface="Arial" pitchFamily="34" charset="-122"/>
                <a:cs typeface="Arial" pitchFamily="34" charset="-120"/>
              </a:rPr>
              <a:t>LED supply and installation</a:t>
            </a:r>
            <a:endParaRPr lang="en-US" sz="1700" dirty="0"/>
          </a:p>
        </p:txBody>
      </p:sp>
      <p:sp>
        <p:nvSpPr>
          <p:cNvPr id="18" name="Text 16"/>
          <p:cNvSpPr/>
          <p:nvPr/>
        </p:nvSpPr>
        <p:spPr>
          <a:xfrm>
            <a:off x="6562192" y="4599432"/>
            <a:ext cx="4788256" cy="237744"/>
          </a:xfrm>
          <a:prstGeom prst="rect">
            <a:avLst/>
          </a:prstGeom>
          <a:noFill/>
          <a:ln/>
        </p:spPr>
        <p:txBody>
          <a:bodyPr wrap="square" lIns="0" tIns="0" rIns="0" bIns="0" rtlCol="0" anchor="ctr"/>
          <a:lstStyle/>
          <a:p>
            <a:pPr indent="0" marL="0">
              <a:buNone/>
            </a:pPr>
            <a:r>
              <a:rPr lang="en-US" sz="950" b="1" spc="140" kern="0" dirty="0">
                <a:solidFill>
                  <a:srgbClr val="2C6FC6"/>
                </a:solidFill>
                <a:latin typeface="Arial" pitchFamily="34" charset="0"/>
                <a:ea typeface="Arial" pitchFamily="34" charset="-122"/>
                <a:cs typeface="Arial" pitchFamily="34" charset="-120"/>
              </a:rPr>
              <a:t>ON UBER'S OWN PREMISES</a:t>
            </a:r>
            <a:endParaRPr lang="en-US" sz="950" dirty="0"/>
          </a:p>
        </p:txBody>
      </p:sp>
      <p:sp>
        <p:nvSpPr>
          <p:cNvPr id="19" name="Text 17"/>
          <p:cNvSpPr/>
          <p:nvPr/>
        </p:nvSpPr>
        <p:spPr>
          <a:xfrm>
            <a:off x="6562192" y="4901184"/>
            <a:ext cx="4788256" cy="868680"/>
          </a:xfrm>
          <a:prstGeom prst="rect">
            <a:avLst/>
          </a:prstGeom>
          <a:noFill/>
          <a:ln/>
        </p:spPr>
        <p:txBody>
          <a:bodyPr wrap="square" lIns="0" tIns="0" rIns="0" bIns="0" rtlCol="0" anchor="t"/>
          <a:lstStyle/>
          <a:p>
            <a:pPr indent="0" marL="0">
              <a:lnSpc>
                <a:spcPts val="1600"/>
              </a:lnSpc>
              <a:buNone/>
            </a:pPr>
            <a:r>
              <a:rPr lang="en-US" sz="1100" dirty="0">
                <a:solidFill>
                  <a:srgbClr val="4A5A72"/>
                </a:solidFill>
                <a:latin typeface="Arial" pitchFamily="34" charset="0"/>
                <a:ea typeface="Arial" pitchFamily="34" charset="-122"/>
                <a:cs typeface="Arial" pitchFamily="34" charset="-120"/>
              </a:rPr>
              <a:t>BDT 10,500 per sq ft plus installation and foundation. Worked example 8ft x 12ft, 96 sq ft = BDT 1,208,000.</a:t>
            </a:r>
            <a:endParaRPr lang="en-US" sz="1100" dirty="0"/>
          </a:p>
        </p:txBody>
      </p:sp>
      <p:sp>
        <p:nvSpPr>
          <p:cNvPr id="20" name="Text 18"/>
          <p:cNvSpPr/>
          <p:nvPr/>
        </p:nvSpPr>
        <p:spPr>
          <a:xfrm>
            <a:off x="566928" y="5870448"/>
            <a:ext cx="11057839" cy="310896"/>
          </a:xfrm>
          <a:prstGeom prst="rect">
            <a:avLst/>
          </a:prstGeom>
          <a:noFill/>
          <a:ln/>
        </p:spPr>
        <p:txBody>
          <a:bodyPr wrap="square" lIns="0" tIns="0" rIns="0" bIns="0" rtlCol="0" anchor="ctr"/>
          <a:lstStyle/>
          <a:p>
            <a:pPr indent="0" marL="0">
              <a:buNone/>
            </a:pPr>
            <a:r>
              <a:rPr lang="en-US" sz="1050" dirty="0">
                <a:solidFill>
                  <a:srgbClr val="7A8798"/>
                </a:solidFill>
                <a:latin typeface="Arial" pitchFamily="34" charset="0"/>
                <a:ea typeface="Arial" pitchFamily="34" charset="-122"/>
                <a:cs typeface="Arial" pitchFamily="34" charset="-120"/>
              </a:rPr>
              <a:t>Metro rail coach branding, LED covered vans and human LED display are priced in the same response, at 5.3.</a:t>
            </a:r>
            <a:endParaRPr lang="en-US" sz="1050" dirty="0"/>
          </a:p>
        </p:txBody>
      </p:sp>
      <p:sp>
        <p:nvSpPr>
          <p:cNvPr id="21" name="Text 19"/>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22" name="Text 20"/>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6 / 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3A63"/>
        </a:solidFill>
      </p:bgPr>
    </p:bg>
    <p:spTree>
      <p:nvGrpSpPr>
        <p:cNvPr id="1" name=""/>
        <p:cNvGrpSpPr/>
        <p:nvPr/>
      </p:nvGrpSpPr>
      <p:grpSpPr>
        <a:xfrm>
          <a:off x="0" y="0"/>
          <a:ext cx="0" cy="0"/>
          <a:chOff x="0" y="0"/>
          <a:chExt cx="0" cy="0"/>
        </a:xfrm>
      </p:grpSpPr>
      <p:sp>
        <p:nvSpPr>
          <p:cNvPr id="2" name="Text 0"/>
          <p:cNvSpPr/>
          <p:nvPr/>
        </p:nvSpPr>
        <p:spPr>
          <a:xfrm>
            <a:off x="566928" y="566928"/>
            <a:ext cx="11057839" cy="237744"/>
          </a:xfrm>
          <a:prstGeom prst="rect">
            <a:avLst/>
          </a:prstGeom>
          <a:noFill/>
          <a:ln/>
        </p:spPr>
        <p:txBody>
          <a:bodyPr wrap="square" lIns="0" tIns="0" rIns="0" bIns="0" rtlCol="0" anchor="ctr"/>
          <a:lstStyle/>
          <a:p>
            <a:pPr indent="0" marL="0">
              <a:buNone/>
            </a:pPr>
            <a:r>
              <a:rPr lang="en-US" sz="1100" b="1" spc="220" kern="0" dirty="0">
                <a:solidFill>
                  <a:srgbClr val="6BA3E8"/>
                </a:solidFill>
                <a:latin typeface="Arial" pitchFamily="34" charset="0"/>
                <a:ea typeface="Arial" pitchFamily="34" charset="-122"/>
                <a:cs typeface="Arial" pitchFamily="34" charset="-120"/>
              </a:rPr>
              <a:t>COMMERCIAL · 5.7 AND 5.8</a:t>
            </a:r>
            <a:endParaRPr lang="en-US" sz="1100" dirty="0"/>
          </a:p>
        </p:txBody>
      </p:sp>
      <p:sp>
        <p:nvSpPr>
          <p:cNvPr id="3" name="Text 1"/>
          <p:cNvSpPr/>
          <p:nvPr/>
        </p:nvSpPr>
        <p:spPr>
          <a:xfrm>
            <a:off x="566928" y="859536"/>
            <a:ext cx="11057839" cy="713232"/>
          </a:xfrm>
          <a:prstGeom prst="rect">
            <a:avLst/>
          </a:prstGeom>
          <a:noFill/>
          <a:ln/>
        </p:spPr>
        <p:txBody>
          <a:bodyPr wrap="square" lIns="0" tIns="0" rIns="0" bIns="0" rtlCol="0" anchor="t"/>
          <a:lstStyle/>
          <a:p>
            <a:pPr indent="0" marL="0">
              <a:buNone/>
            </a:pPr>
            <a:r>
              <a:rPr lang="en-US" sz="3000" dirty="0">
                <a:solidFill>
                  <a:srgbClr val="FFFFFF"/>
                </a:solidFill>
                <a:latin typeface="Arial" pitchFamily="34" charset="0"/>
                <a:ea typeface="Arial" pitchFamily="34" charset="-122"/>
                <a:cs typeface="Arial" pitchFamily="34" charset="-120"/>
              </a:rPr>
              <a:t>Everything bought in, at cost.</a:t>
            </a:r>
            <a:endParaRPr lang="en-US" sz="3000" dirty="0"/>
          </a:p>
        </p:txBody>
      </p:sp>
      <p:sp>
        <p:nvSpPr>
          <p:cNvPr id="4" name="Text 2"/>
          <p:cNvSpPr/>
          <p:nvPr/>
        </p:nvSpPr>
        <p:spPr>
          <a:xfrm>
            <a:off x="566928" y="1874520"/>
            <a:ext cx="5486400" cy="1371600"/>
          </a:xfrm>
          <a:prstGeom prst="rect">
            <a:avLst/>
          </a:prstGeom>
          <a:noFill/>
          <a:ln/>
        </p:spPr>
        <p:txBody>
          <a:bodyPr wrap="square" lIns="0" tIns="0" rIns="0" bIns="0" rtlCol="0" anchor="t"/>
          <a:lstStyle/>
          <a:p>
            <a:pPr indent="0" marL="0">
              <a:lnSpc>
                <a:spcPts val="2000"/>
              </a:lnSpc>
              <a:buNone/>
            </a:pPr>
            <a:r>
              <a:rPr lang="en-US" sz="1300" dirty="0">
                <a:solidFill>
                  <a:srgbClr val="D5E2F2"/>
                </a:solidFill>
                <a:latin typeface="Arial" pitchFamily="34" charset="0"/>
                <a:ea typeface="Arial" pitchFamily="34" charset="-122"/>
                <a:cs typeface="Arial" pitchFamily="34" charset="-120"/>
              </a:rPr>
              <a:t>The rate cards are AD PRO’s own media, priced as the operator. Anything else this contract needs is bought in, and every category of it is billed to Uber at the price AD PRO paid, with the document that proves the price attached to the bill.</a:t>
            </a:r>
            <a:endParaRPr lang="en-US" sz="1300" dirty="0"/>
          </a:p>
        </p:txBody>
      </p:sp>
      <p:sp>
        <p:nvSpPr>
          <p:cNvPr id="5" name="Text 3"/>
          <p:cNvSpPr/>
          <p:nvPr/>
        </p:nvSpPr>
        <p:spPr>
          <a:xfrm>
            <a:off x="566928" y="3337560"/>
            <a:ext cx="5486400" cy="640080"/>
          </a:xfrm>
          <a:prstGeom prst="rect">
            <a:avLst/>
          </a:prstGeom>
          <a:noFill/>
          <a:ln/>
        </p:spPr>
        <p:txBody>
          <a:bodyPr wrap="square" lIns="0" tIns="0" rIns="0" bIns="0" rtlCol="0" anchor="ctr"/>
          <a:lstStyle/>
          <a:p>
            <a:pPr indent="0" marL="0">
              <a:lnSpc>
                <a:spcPts val="2600"/>
              </a:lnSpc>
              <a:buNone/>
            </a:pPr>
            <a:r>
              <a:rPr lang="en-US" sz="1700" b="1" dirty="0">
                <a:solidFill>
                  <a:srgbClr val="FFFFFF"/>
                </a:solidFill>
                <a:latin typeface="Arial" pitchFamily="34" charset="0"/>
                <a:ea typeface="Arial" pitchFamily="34" charset="-122"/>
                <a:cs typeface="Arial" pitchFamily="34" charset="-120"/>
              </a:rPr>
              <a:t>No handling fee. No commission. No retainer. No account-management fee.</a:t>
            </a:r>
            <a:endParaRPr lang="en-US" sz="1700" dirty="0"/>
          </a:p>
        </p:txBody>
      </p:sp>
      <p:sp>
        <p:nvSpPr>
          <p:cNvPr id="6" name="Text 4"/>
          <p:cNvSpPr/>
          <p:nvPr/>
        </p:nvSpPr>
        <p:spPr>
          <a:xfrm>
            <a:off x="566928" y="4114800"/>
            <a:ext cx="5486400" cy="1005840"/>
          </a:xfrm>
          <a:prstGeom prst="rect">
            <a:avLst/>
          </a:prstGeom>
          <a:noFill/>
          <a:ln/>
        </p:spPr>
        <p:txBody>
          <a:bodyPr wrap="square" lIns="0" tIns="0" rIns="0" bIns="0" rtlCol="0" anchor="t"/>
          <a:lstStyle/>
          <a:p>
            <a:pPr indent="0" marL="0">
              <a:lnSpc>
                <a:spcPts val="1600"/>
              </a:lnSpc>
              <a:buNone/>
            </a:pPr>
            <a:r>
              <a:rPr lang="en-US" sz="1100" dirty="0">
                <a:solidFill>
                  <a:srgbClr val="B9CCE4"/>
                </a:solidFill>
                <a:latin typeface="Arial" pitchFamily="34" charset="0"/>
                <a:ea typeface="Arial" pitchFamily="34" charset="-122"/>
                <a:cs typeface="Arial" pitchFamily="34" charset="-120"/>
              </a:rPr>
              <a:t>Should any circumstance ever warrant one, AD PRO states the reason in writing, shows the cost break-up, and obtains Uber’s prior written agreement before the cost is incurred, as Part 3 of the RFP requires.</a:t>
            </a:r>
            <a:endParaRPr lang="en-US" sz="1100" dirty="0"/>
          </a:p>
        </p:txBody>
      </p:sp>
      <p:sp>
        <p:nvSpPr>
          <p:cNvPr id="7" name="Text 5"/>
          <p:cNvSpPr/>
          <p:nvPr/>
        </p:nvSpPr>
        <p:spPr>
          <a:xfrm>
            <a:off x="6583680" y="1874520"/>
            <a:ext cx="3017520" cy="219456"/>
          </a:xfrm>
          <a:prstGeom prst="rect">
            <a:avLst/>
          </a:prstGeom>
          <a:noFill/>
          <a:ln/>
        </p:spPr>
        <p:txBody>
          <a:bodyPr wrap="square" lIns="0" tIns="0" rIns="0" bIns="0" rtlCol="0" anchor="ctr"/>
          <a:lstStyle/>
          <a:p>
            <a:pPr indent="0" marL="0">
              <a:buNone/>
            </a:pPr>
            <a:r>
              <a:rPr lang="en-US" sz="900" b="1" spc="140" kern="0" dirty="0">
                <a:solidFill>
                  <a:srgbClr val="6BA3E8"/>
                </a:solidFill>
                <a:latin typeface="Arial" pitchFamily="34" charset="0"/>
                <a:ea typeface="Arial" pitchFamily="34" charset="-122"/>
                <a:cs typeface="Arial" pitchFamily="34" charset="-120"/>
              </a:rPr>
              <a:t>BOUGHT IN FOR UBER</a:t>
            </a:r>
            <a:endParaRPr lang="en-US" sz="900" dirty="0"/>
          </a:p>
        </p:txBody>
      </p:sp>
      <p:sp>
        <p:nvSpPr>
          <p:cNvPr id="8" name="Text 6"/>
          <p:cNvSpPr/>
          <p:nvPr/>
        </p:nvSpPr>
        <p:spPr>
          <a:xfrm>
            <a:off x="9692640" y="1874520"/>
            <a:ext cx="1920240" cy="219456"/>
          </a:xfrm>
          <a:prstGeom prst="rect">
            <a:avLst/>
          </a:prstGeom>
          <a:noFill/>
          <a:ln/>
        </p:spPr>
        <p:txBody>
          <a:bodyPr wrap="square" lIns="0" tIns="0" rIns="0" bIns="0" rtlCol="0" anchor="ctr"/>
          <a:lstStyle/>
          <a:p>
            <a:pPr indent="0" marL="0">
              <a:buNone/>
            </a:pPr>
            <a:r>
              <a:rPr lang="en-US" sz="900" b="1" spc="140" kern="0" dirty="0">
                <a:solidFill>
                  <a:srgbClr val="6BA3E8"/>
                </a:solidFill>
                <a:latin typeface="Arial" pitchFamily="34" charset="0"/>
                <a:ea typeface="Arial" pitchFamily="34" charset="-122"/>
                <a:cs typeface="Arial" pitchFamily="34" charset="-120"/>
              </a:rPr>
              <a:t>BILLED AGAINST</a:t>
            </a:r>
            <a:endParaRPr lang="en-US" sz="900" dirty="0"/>
          </a:p>
        </p:txBody>
      </p:sp>
      <p:sp>
        <p:nvSpPr>
          <p:cNvPr id="9" name="Shape 7"/>
          <p:cNvSpPr/>
          <p:nvPr/>
        </p:nvSpPr>
        <p:spPr>
          <a:xfrm>
            <a:off x="6583680" y="2139696"/>
            <a:ext cx="5029200" cy="0"/>
          </a:xfrm>
          <a:prstGeom prst="line">
            <a:avLst/>
          </a:prstGeom>
          <a:noFill/>
          <a:ln w="12700">
            <a:solidFill>
              <a:srgbClr val="6BA3E8"/>
            </a:solidFill>
            <a:prstDash val="solid"/>
          </a:ln>
        </p:spPr>
      </p:sp>
      <p:sp>
        <p:nvSpPr>
          <p:cNvPr id="10" name="Text 8"/>
          <p:cNvSpPr/>
          <p:nvPr/>
        </p:nvSpPr>
        <p:spPr>
          <a:xfrm>
            <a:off x="6583680" y="2286000"/>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Static billboard, megasign, unipole, wallscape</a:t>
            </a:r>
            <a:endParaRPr lang="en-US" sz="1100" dirty="0"/>
          </a:p>
        </p:txBody>
      </p:sp>
      <p:sp>
        <p:nvSpPr>
          <p:cNvPr id="11" name="Text 9"/>
          <p:cNvSpPr/>
          <p:nvPr/>
        </p:nvSpPr>
        <p:spPr>
          <a:xfrm>
            <a:off x="9692640" y="2286000"/>
            <a:ext cx="1920240" cy="457200"/>
          </a:xfrm>
          <a:prstGeom prst="rect">
            <a:avLst/>
          </a:prstGeom>
          <a:noFill/>
          <a:ln/>
        </p:spPr>
        <p:txBody>
          <a:bodyPr wrap="square" lIns="0" tIns="0" rIns="0" bIns="0" rtlCol="0" anchor="t"/>
          <a:lstStyle/>
          <a:p>
            <a:pPr indent="0" marL="0">
              <a:buNone/>
            </a:pPr>
            <a:r>
              <a:rPr lang="en-US" sz="1100" dirty="0">
                <a:solidFill>
                  <a:srgbClr val="6BA3E8"/>
                </a:solidFill>
                <a:latin typeface="Arial" pitchFamily="34" charset="0"/>
                <a:ea typeface="Arial" pitchFamily="34" charset="-122"/>
                <a:cs typeface="Arial" pitchFamily="34" charset="-120"/>
              </a:rPr>
              <a:t>Media owner's invoice</a:t>
            </a:r>
            <a:endParaRPr lang="en-US" sz="1100" dirty="0"/>
          </a:p>
        </p:txBody>
      </p:sp>
      <p:sp>
        <p:nvSpPr>
          <p:cNvPr id="12" name="Text 10"/>
          <p:cNvSpPr/>
          <p:nvPr/>
        </p:nvSpPr>
        <p:spPr>
          <a:xfrm>
            <a:off x="6583680" y="2852928"/>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Brand promoters and activation manpower</a:t>
            </a:r>
            <a:endParaRPr lang="en-US" sz="1100" dirty="0"/>
          </a:p>
        </p:txBody>
      </p:sp>
      <p:sp>
        <p:nvSpPr>
          <p:cNvPr id="13" name="Text 11"/>
          <p:cNvSpPr/>
          <p:nvPr/>
        </p:nvSpPr>
        <p:spPr>
          <a:xfrm>
            <a:off x="9692640" y="2852928"/>
            <a:ext cx="1920240" cy="457200"/>
          </a:xfrm>
          <a:prstGeom prst="rect">
            <a:avLst/>
          </a:prstGeom>
          <a:noFill/>
          <a:ln/>
        </p:spPr>
        <p:txBody>
          <a:bodyPr wrap="square" lIns="0" tIns="0" rIns="0" bIns="0" rtlCol="0" anchor="t"/>
          <a:lstStyle/>
          <a:p>
            <a:pPr indent="0" marL="0">
              <a:buNone/>
            </a:pPr>
            <a:r>
              <a:rPr lang="en-US" sz="1100" dirty="0">
                <a:solidFill>
                  <a:srgbClr val="6BA3E8"/>
                </a:solidFill>
                <a:latin typeface="Arial" pitchFamily="34" charset="0"/>
                <a:ea typeface="Arial" pitchFamily="34" charset="-122"/>
                <a:cs typeface="Arial" pitchFamily="34" charset="-120"/>
              </a:rPr>
              <a:t>Supplier invoice, at cost</a:t>
            </a:r>
            <a:endParaRPr lang="en-US" sz="1100" dirty="0"/>
          </a:p>
        </p:txBody>
      </p:sp>
      <p:sp>
        <p:nvSpPr>
          <p:cNvPr id="14" name="Text 12"/>
          <p:cNvSpPr/>
          <p:nvPr/>
        </p:nvSpPr>
        <p:spPr>
          <a:xfrm>
            <a:off x="6583680" y="3419856"/>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Government permission and liaison</a:t>
            </a:r>
            <a:endParaRPr lang="en-US" sz="1100" dirty="0"/>
          </a:p>
        </p:txBody>
      </p:sp>
      <p:sp>
        <p:nvSpPr>
          <p:cNvPr id="15" name="Text 13"/>
          <p:cNvSpPr/>
          <p:nvPr/>
        </p:nvSpPr>
        <p:spPr>
          <a:xfrm>
            <a:off x="9692640" y="3419856"/>
            <a:ext cx="1920240" cy="457200"/>
          </a:xfrm>
          <a:prstGeom prst="rect">
            <a:avLst/>
          </a:prstGeom>
          <a:noFill/>
          <a:ln/>
        </p:spPr>
        <p:txBody>
          <a:bodyPr wrap="square" lIns="0" tIns="0" rIns="0" bIns="0" rtlCol="0" anchor="t"/>
          <a:lstStyle/>
          <a:p>
            <a:pPr indent="0" marL="0">
              <a:buNone/>
            </a:pPr>
            <a:r>
              <a:rPr lang="en-US" sz="1100" dirty="0">
                <a:solidFill>
                  <a:srgbClr val="6BA3E8"/>
                </a:solidFill>
                <a:latin typeface="Arial" pitchFamily="34" charset="0"/>
                <a:ea typeface="Arial" pitchFamily="34" charset="-122"/>
                <a:cs typeface="Arial" pitchFamily="34" charset="-120"/>
              </a:rPr>
              <a:t>Official receipt. No liaison charge</a:t>
            </a:r>
            <a:endParaRPr lang="en-US" sz="1100" dirty="0"/>
          </a:p>
        </p:txBody>
      </p:sp>
      <p:sp>
        <p:nvSpPr>
          <p:cNvPr id="16" name="Text 14"/>
          <p:cNvSpPr/>
          <p:nvPr/>
        </p:nvSpPr>
        <p:spPr>
          <a:xfrm>
            <a:off x="6583680" y="3986784"/>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Logistics and transportation</a:t>
            </a:r>
            <a:endParaRPr lang="en-US" sz="1100" dirty="0"/>
          </a:p>
        </p:txBody>
      </p:sp>
      <p:sp>
        <p:nvSpPr>
          <p:cNvPr id="17" name="Text 15"/>
          <p:cNvSpPr/>
          <p:nvPr/>
        </p:nvSpPr>
        <p:spPr>
          <a:xfrm>
            <a:off x="9692640" y="3986784"/>
            <a:ext cx="1920240" cy="457200"/>
          </a:xfrm>
          <a:prstGeom prst="rect">
            <a:avLst/>
          </a:prstGeom>
          <a:noFill/>
          <a:ln/>
        </p:spPr>
        <p:txBody>
          <a:bodyPr wrap="square" lIns="0" tIns="0" rIns="0" bIns="0" rtlCol="0" anchor="t"/>
          <a:lstStyle/>
          <a:p>
            <a:pPr indent="0" marL="0">
              <a:buNone/>
            </a:pPr>
            <a:r>
              <a:rPr lang="en-US" sz="1100" dirty="0">
                <a:solidFill>
                  <a:srgbClr val="6BA3E8"/>
                </a:solidFill>
                <a:latin typeface="Arial" pitchFamily="34" charset="0"/>
                <a:ea typeface="Arial" pitchFamily="34" charset="-122"/>
                <a:cs typeface="Arial" pitchFamily="34" charset="-120"/>
              </a:rPr>
              <a:t>Carrier receipt</a:t>
            </a:r>
            <a:endParaRPr lang="en-US" sz="1100" dirty="0"/>
          </a:p>
        </p:txBody>
      </p:sp>
      <p:sp>
        <p:nvSpPr>
          <p:cNvPr id="18" name="Text 16"/>
          <p:cNvSpPr/>
          <p:nvPr/>
        </p:nvSpPr>
        <p:spPr>
          <a:xfrm>
            <a:off x="6583680" y="4553712"/>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Storage of Uber materials</a:t>
            </a:r>
            <a:endParaRPr lang="en-US" sz="1100" dirty="0"/>
          </a:p>
        </p:txBody>
      </p:sp>
      <p:sp>
        <p:nvSpPr>
          <p:cNvPr id="19" name="Text 17"/>
          <p:cNvSpPr/>
          <p:nvPr/>
        </p:nvSpPr>
        <p:spPr>
          <a:xfrm>
            <a:off x="9692640" y="4553712"/>
            <a:ext cx="1920240" cy="457200"/>
          </a:xfrm>
          <a:prstGeom prst="rect">
            <a:avLst/>
          </a:prstGeom>
          <a:noFill/>
          <a:ln/>
        </p:spPr>
        <p:txBody>
          <a:bodyPr wrap="square" lIns="0" tIns="0" rIns="0" bIns="0" rtlCol="0" anchor="t"/>
          <a:lstStyle/>
          <a:p>
            <a:pPr indent="0" marL="0">
              <a:buNone/>
            </a:pPr>
            <a:r>
              <a:rPr lang="en-US" sz="1100" dirty="0">
                <a:solidFill>
                  <a:srgbClr val="6BA3E8"/>
                </a:solidFill>
                <a:latin typeface="Arial" pitchFamily="34" charset="0"/>
                <a:ea typeface="Arial" pitchFamily="34" charset="-122"/>
                <a:cs typeface="Arial" pitchFamily="34" charset="-120"/>
              </a:rPr>
              <a:t>Warehouse invoice</a:t>
            </a:r>
            <a:endParaRPr lang="en-US" sz="1100" dirty="0"/>
          </a:p>
        </p:txBody>
      </p:sp>
      <p:sp>
        <p:nvSpPr>
          <p:cNvPr id="20" name="Text 18"/>
          <p:cNvSpPr/>
          <p:nvPr/>
        </p:nvSpPr>
        <p:spPr>
          <a:xfrm>
            <a:off x="6583680" y="5120640"/>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Annual account-management / retainer fee</a:t>
            </a:r>
            <a:endParaRPr lang="en-US" sz="1100" dirty="0"/>
          </a:p>
        </p:txBody>
      </p:sp>
      <p:sp>
        <p:nvSpPr>
          <p:cNvPr id="21" name="Text 19"/>
          <p:cNvSpPr/>
          <p:nvPr/>
        </p:nvSpPr>
        <p:spPr>
          <a:xfrm>
            <a:off x="9692640" y="5120640"/>
            <a:ext cx="1920240" cy="45720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NIL</a:t>
            </a:r>
            <a:endParaRPr lang="en-US" sz="1100" dirty="0"/>
          </a:p>
        </p:txBody>
      </p:sp>
      <p:sp>
        <p:nvSpPr>
          <p:cNvPr id="22" name="Text 20"/>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23" name="Text 21"/>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7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An AD PRO LED screen at Kamlapur Railway Station, Dhaka">    </p:cNvPr>
          <p:cNvPicPr>
            <a:picLocks noChangeAspect="1"/>
          </p:cNvPicPr>
          <p:nvPr/>
        </p:nvPicPr>
        <p:blipFill>
          <a:blip r:embed="rId1"/>
          <a:srcRect l="0" r="0" t="0" b="0"/>
          <a:stretch/>
        </p:blipFill>
        <p:spPr>
          <a:xfrm>
            <a:off x="0" y="0"/>
            <a:ext cx="12191695" cy="3200400"/>
          </a:xfrm>
          <a:prstGeom prst="rect">
            <a:avLst/>
          </a:prstGeom>
        </p:spPr>
      </p:pic>
      <p:sp>
        <p:nvSpPr>
          <p:cNvPr id="3" name="Shape 0"/>
          <p:cNvSpPr/>
          <p:nvPr/>
        </p:nvSpPr>
        <p:spPr>
          <a:xfrm>
            <a:off x="0" y="3200400"/>
            <a:ext cx="12191695" cy="3657600"/>
          </a:xfrm>
          <a:prstGeom prst="rect">
            <a:avLst/>
          </a:prstGeom>
          <a:solidFill>
            <a:srgbClr val="FFFFFF"/>
          </a:solidFill>
          <a:ln/>
        </p:spPr>
      </p:sp>
      <p:sp>
        <p:nvSpPr>
          <p:cNvPr id="4" name="Text 1"/>
          <p:cNvSpPr/>
          <p:nvPr/>
        </p:nvSpPr>
        <p:spPr>
          <a:xfrm>
            <a:off x="566928" y="3520440"/>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TERMS</a:t>
            </a:r>
            <a:endParaRPr lang="en-US" sz="1100" dirty="0"/>
          </a:p>
        </p:txBody>
      </p:sp>
      <p:sp>
        <p:nvSpPr>
          <p:cNvPr id="5" name="Text 2"/>
          <p:cNvSpPr/>
          <p:nvPr/>
        </p:nvSpPr>
        <p:spPr>
          <a:xfrm>
            <a:off x="566928" y="3813048"/>
            <a:ext cx="11057839" cy="713232"/>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Accepted as Uber wrote them.</a:t>
            </a:r>
            <a:endParaRPr lang="en-US" sz="3000" dirty="0"/>
          </a:p>
        </p:txBody>
      </p:sp>
      <p:sp>
        <p:nvSpPr>
          <p:cNvPr id="6" name="Text 3"/>
          <p:cNvSpPr/>
          <p:nvPr/>
        </p:nvSpPr>
        <p:spPr>
          <a:xfrm>
            <a:off x="566928" y="448056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NET60</a:t>
            </a:r>
            <a:endParaRPr lang="en-US" sz="1300" dirty="0"/>
          </a:p>
        </p:txBody>
      </p:sp>
      <p:sp>
        <p:nvSpPr>
          <p:cNvPr id="7" name="Text 4"/>
          <p:cNvSpPr/>
          <p:nvPr/>
        </p:nvSpPr>
        <p:spPr>
          <a:xfrm>
            <a:off x="566928" y="473659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60 days from a correct invoice against an Uber-issued PO</a:t>
            </a:r>
            <a:endParaRPr lang="en-US" sz="1050" dirty="0"/>
          </a:p>
        </p:txBody>
      </p:sp>
      <p:sp>
        <p:nvSpPr>
          <p:cNvPr id="8" name="Text 5"/>
          <p:cNvSpPr/>
          <p:nvPr/>
        </p:nvSpPr>
        <p:spPr>
          <a:xfrm>
            <a:off x="4405274" y="448056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Purchase orders</a:t>
            </a:r>
            <a:endParaRPr lang="en-US" sz="1300" dirty="0"/>
          </a:p>
        </p:txBody>
      </p:sp>
      <p:sp>
        <p:nvSpPr>
          <p:cNvPr id="9" name="Text 6"/>
          <p:cNvSpPr/>
          <p:nvPr/>
        </p:nvSpPr>
        <p:spPr>
          <a:xfrm>
            <a:off x="4405274" y="473659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No work commenced and no cost incurred without a valid PO</a:t>
            </a:r>
            <a:endParaRPr lang="en-US" sz="1050" dirty="0"/>
          </a:p>
        </p:txBody>
      </p:sp>
      <p:sp>
        <p:nvSpPr>
          <p:cNvPr id="10" name="Text 7"/>
          <p:cNvSpPr/>
          <p:nvPr/>
        </p:nvSpPr>
        <p:spPr>
          <a:xfrm>
            <a:off x="8243621" y="448056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Rate validity</a:t>
            </a:r>
            <a:endParaRPr lang="en-US" sz="1300" dirty="0"/>
          </a:p>
        </p:txBody>
      </p:sp>
      <p:sp>
        <p:nvSpPr>
          <p:cNvPr id="11" name="Text 8"/>
          <p:cNvSpPr/>
          <p:nvPr/>
        </p:nvSpPr>
        <p:spPr>
          <a:xfrm>
            <a:off x="8243621" y="473659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Re-confirmed every 15 days, re-issued against the same structure</a:t>
            </a:r>
            <a:endParaRPr lang="en-US" sz="1050" dirty="0"/>
          </a:p>
        </p:txBody>
      </p:sp>
      <p:sp>
        <p:nvSpPr>
          <p:cNvPr id="12" name="Text 9"/>
          <p:cNvSpPr/>
          <p:nvPr/>
        </p:nvSpPr>
        <p:spPr>
          <a:xfrm>
            <a:off x="566928" y="534924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MSA and SOW</a:t>
            </a:r>
            <a:endParaRPr lang="en-US" sz="1300" dirty="0"/>
          </a:p>
        </p:txBody>
      </p:sp>
      <p:sp>
        <p:nvSpPr>
          <p:cNvPr id="13" name="Text 10"/>
          <p:cNvSpPr/>
          <p:nvPr/>
        </p:nvSpPr>
        <p:spPr>
          <a:xfrm>
            <a:off x="566928" y="560527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Accepted without redlines on Uber's template</a:t>
            </a:r>
            <a:endParaRPr lang="en-US" sz="1050" dirty="0"/>
          </a:p>
        </p:txBody>
      </p:sp>
      <p:sp>
        <p:nvSpPr>
          <p:cNvPr id="14" name="Text 11"/>
          <p:cNvSpPr/>
          <p:nvPr/>
        </p:nvSpPr>
        <p:spPr>
          <a:xfrm>
            <a:off x="4405274" y="534924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Mutual NDA</a:t>
            </a:r>
            <a:endParaRPr lang="en-US" sz="1300" dirty="0"/>
          </a:p>
        </p:txBody>
      </p:sp>
      <p:sp>
        <p:nvSpPr>
          <p:cNvPr id="15" name="Text 12"/>
          <p:cNvSpPr/>
          <p:nvPr/>
        </p:nvSpPr>
        <p:spPr>
          <a:xfrm>
            <a:off x="4405274" y="560527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Returned with this submission, completed and unsigned</a:t>
            </a:r>
            <a:endParaRPr lang="en-US" sz="1050" dirty="0"/>
          </a:p>
        </p:txBody>
      </p:sp>
      <p:sp>
        <p:nvSpPr>
          <p:cNvPr id="16" name="Text 13"/>
          <p:cNvSpPr/>
          <p:nvPr/>
        </p:nvSpPr>
        <p:spPr>
          <a:xfrm>
            <a:off x="8243621" y="534924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Contract term</a:t>
            </a:r>
            <a:endParaRPr lang="en-US" sz="1300" dirty="0"/>
          </a:p>
        </p:txBody>
      </p:sp>
      <p:sp>
        <p:nvSpPr>
          <p:cNvPr id="17" name="Text 14"/>
          <p:cNvSpPr/>
          <p:nvPr/>
        </p:nvSpPr>
        <p:spPr>
          <a:xfrm>
            <a:off x="8243621" y="560527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One year, as proposed</a:t>
            </a:r>
            <a:endParaRPr lang="en-US" sz="1050" dirty="0"/>
          </a:p>
        </p:txBody>
      </p:sp>
      <p:sp>
        <p:nvSpPr>
          <p:cNvPr id="18" name="Text 15"/>
          <p:cNvSpPr/>
          <p:nvPr/>
        </p:nvSpPr>
        <p:spPr>
          <a:xfrm>
            <a:off x="566928" y="6126480"/>
            <a:ext cx="11057839" cy="274320"/>
          </a:xfrm>
          <a:prstGeom prst="rect">
            <a:avLst/>
          </a:prstGeom>
          <a:noFill/>
          <a:ln/>
        </p:spPr>
        <p:txBody>
          <a:bodyPr wrap="square" lIns="0" tIns="0" rIns="0" bIns="0" rtlCol="0" anchor="ctr"/>
          <a:lstStyle/>
          <a:p>
            <a:pPr indent="0" marL="0">
              <a:buNone/>
            </a:pPr>
            <a:r>
              <a:rPr lang="en-US" sz="1050" dirty="0">
                <a:solidFill>
                  <a:srgbClr val="1E3A63"/>
                </a:solidFill>
                <a:latin typeface="Arial" pitchFamily="34" charset="0"/>
                <a:ea typeface="Arial" pitchFamily="34" charset="-122"/>
                <a:cs typeface="Arial" pitchFamily="34" charset="-120"/>
              </a:rPr>
              <a:t>adpro.com.bd  ·  +880 1958 503755  ·  mkt.adpro@gmail.com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AD PRO Communications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Bangladesh: strategic plan and commercial proposal</dc:title>
  <dc:subject>PptxGenJS Presentation</dc:subject>
  <dc:creator>AD PRO Communications Ltd.</dc:creator>
  <cp:lastModifiedBy>AD PRO Communications Ltd.</cp:lastModifiedBy>
  <cp:revision>1</cp:revision>
  <dcterms:created xsi:type="dcterms:W3CDTF">2026-08-25T14:13:11Z</dcterms:created>
  <dcterms:modified xsi:type="dcterms:W3CDTF">2026-08-25T14:13:11Z</dcterms:modified>
</cp:coreProperties>
</file>